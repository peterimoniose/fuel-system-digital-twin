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lsx" ContentType="application/vnd.openxmlformats-officedocument.spreadsheetml.sheet"/>
  <Default Extension="xml" ContentType="application/xml"/>
  <Override PartName="/docProps/app.xml" ContentType="application/vnd.openxmlformats-officedocument.extended-properties+xml"/>
  <Override PartName="/docProps/core.xml" ContentType="application/vnd.openxmlformats-package.core-properties+xml"/>
  <Override PartName="/ppt/charts/chart1.xml" ContentType="application/vnd.openxmlformats-officedocument.drawingml.chart+xml"/>
  <Override PartName="/ppt/charts/chart2.xml" ContentType="application/vnd.openxmlformats-officedocument.drawingml.chart+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 id="270" r:id="rId22"/>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slide" Target="slides/slide15.xml"/></Relationships>
</file>

<file path=ppt/charts/_rels/chart1.xml.rels><?xml version='1.0' encoding='UTF-8' standalone='yes'?>
<Relationships xmlns="http://schemas.openxmlformats.org/package/2006/relationships"><Relationship Id="rId1" Type="http://schemas.openxmlformats.org/officeDocument/2006/relationships/package" Target="../embeddings/Microsoft_Excel_Sheet1.xlsx"/></Relationships>
</file>

<file path=ppt/charts/_rels/chart2.xml.rels><?xml version='1.0' encoding='UTF-8' standalone='yes'?>
<Relationships xmlns="http://schemas.openxmlformats.org/package/2006/relationships"><Relationship Id="rId1" Type="http://schemas.openxmlformats.org/officeDocument/2006/relationships/package" Target="../embeddings/Microsoft_Excel_Sheet2.xlsx"/></Relationships>
</file>

<file path=ppt/charts/chart1.xml><?xml version="1.0" encoding="utf-8"?>
<c:chartSpace xmlns:c="http://schemas.openxmlformats.org/drawingml/2006/chart" xmlns:a="http://schemas.openxmlformats.org/drawingml/2006/main" xmlns:r="http://schemas.openxmlformats.org/officeDocument/2006/relationships">
  <c:date1904 val="0"/>
  <c:chart>
    <c:autoTitleDeleted val="0"/>
    <c:plotArea>
      <c:barChart>
        <c:barDir val="bar"/>
        <c:grouping val="clustered"/>
        <c:ser>
          <c:idx val="0"/>
          <c:order val="0"/>
          <c:tx>
            <c:strRef>
              <c:f>Sheet1!$B$1</c:f>
              <c:strCache>
                <c:ptCount val="1"/>
                <c:pt idx="0">
                  <c:v>Leave one recording out</c:v>
                </c:pt>
              </c:strCache>
            </c:strRef>
          </c:tx>
          <c:spPr>
            <a:solidFill>
              <a:srgbClr val="9AA3AD"/>
            </a:solidFill>
          </c:spPr>
          <c:dLbls>
            <c:numFmt formatCode="0.00" sourceLinked="0"/>
            <c:txPr>
              <a:bodyPr/>
              <a:lstStyle/>
              <a:p>
                <a:pPr>
                  <a:defRPr sz="1100">
                    <a:solidFill>
                      <a:srgbClr val="1B1F24"/>
                    </a:solidFill>
                  </a:defRPr>
                </a:pPr>
              </a:p>
            </c:txPr>
            <c:dLblPos val="outEnd"/>
            <c:showLegendKey val="0"/>
            <c:showVal val="1"/>
            <c:showCatName val="0"/>
            <c:showSerName val="0"/>
            <c:showPercent val="0"/>
            <c:showBubbleSize val="0"/>
            <c:showLeaderLines val="1"/>
          </c:dLbls>
          <c:cat>
            <c:strRef>
              <c:f>Sheet1!$A$2:$A$7</c:f>
              <c:strCache>
                <c:ptCount val="6"/>
                <c:pt idx="0">
                  <c:v>Expert rule tree</c:v>
                </c:pt>
                <c:pt idx="1">
                  <c:v>Logistic regression (raw)</c:v>
                </c:pt>
                <c:pt idx="2">
                  <c:v>Signature direction</c:v>
                </c:pt>
                <c:pt idx="3">
                  <c:v>Physics rules (never saw the fault)</c:v>
                </c:pt>
                <c:pt idx="4">
                  <c:v>Gradient boosting (physics features)</c:v>
                </c:pt>
                <c:pt idx="5">
                  <c:v>Clock time only (shortcut)</c:v>
                </c:pt>
              </c:strCache>
            </c:strRef>
          </c:cat>
          <c:val>
            <c:numRef>
              <c:f>Sheet1!$B$2:$B$7</c:f>
              <c:numCache>
                <c:formatCode>General</c:formatCode>
                <c:ptCount val="6"/>
                <c:pt idx="0">
                  <c:v>0.471</c:v>
                </c:pt>
                <c:pt idx="1">
                  <c:v>0.873</c:v>
                </c:pt>
                <c:pt idx="2">
                  <c:v>0.868</c:v>
                </c:pt>
                <c:pt idx="3">
                  <c:v>0.88</c:v>
                </c:pt>
                <c:pt idx="4">
                  <c:v>0.921</c:v>
                </c:pt>
                <c:pt idx="5">
                  <c:v>0.958</c:v>
                </c:pt>
              </c:numCache>
            </c:numRef>
          </c:val>
        </c:ser>
        <c:ser>
          <c:idx val="1"/>
          <c:order val="1"/>
          <c:tx>
            <c:strRef>
              <c:f>Sheet1!$C$1</c:f>
              <c:strCache>
                <c:ptCount val="1"/>
                <c:pt idx="0">
                  <c:v>Train severe, test mild</c:v>
                </c:pt>
              </c:strCache>
            </c:strRef>
          </c:tx>
          <c:spPr>
            <a:solidFill>
              <a:srgbClr val="E8A33D"/>
            </a:solidFill>
          </c:spPr>
          <c:dLbls>
            <c:numFmt formatCode="0.00" sourceLinked="0"/>
            <c:txPr>
              <a:bodyPr/>
              <a:lstStyle/>
              <a:p>
                <a:pPr>
                  <a:defRPr sz="1100">
                    <a:solidFill>
                      <a:srgbClr val="1B1F24"/>
                    </a:solidFill>
                  </a:defRPr>
                </a:pPr>
              </a:p>
            </c:txPr>
            <c:dLblPos val="outEnd"/>
            <c:showLegendKey val="0"/>
            <c:showVal val="1"/>
            <c:showCatName val="0"/>
            <c:showSerName val="0"/>
            <c:showPercent val="0"/>
            <c:showBubbleSize val="0"/>
            <c:showLeaderLines val="1"/>
          </c:dLbls>
          <c:cat>
            <c:strRef>
              <c:f>Sheet1!$A$2:$A$7</c:f>
              <c:strCache>
                <c:ptCount val="6"/>
                <c:pt idx="0">
                  <c:v>Expert rule tree</c:v>
                </c:pt>
                <c:pt idx="1">
                  <c:v>Logistic regression (raw)</c:v>
                </c:pt>
                <c:pt idx="2">
                  <c:v>Signature direction</c:v>
                </c:pt>
                <c:pt idx="3">
                  <c:v>Physics rules (never saw the fault)</c:v>
                </c:pt>
                <c:pt idx="4">
                  <c:v>Gradient boosting (physics features)</c:v>
                </c:pt>
                <c:pt idx="5">
                  <c:v>Clock time only (shortcut)</c:v>
                </c:pt>
              </c:strCache>
            </c:strRef>
          </c:cat>
          <c:val>
            <c:numRef>
              <c:f>Sheet1!$C$2:$C$7</c:f>
              <c:numCache>
                <c:formatCode>General</c:formatCode>
                <c:ptCount val="6"/>
                <c:pt idx="0">
                  <c:v>0.25</c:v>
                </c:pt>
                <c:pt idx="1">
                  <c:v>0.056</c:v>
                </c:pt>
                <c:pt idx="2">
                  <c:v>0.576</c:v>
                </c:pt>
                <c:pt idx="3">
                  <c:v>0.58</c:v>
                </c:pt>
                <c:pt idx="4">
                  <c:v>0.547</c:v>
                </c:pt>
                <c:pt idx="5">
                  <c:v>0.603</c:v>
                </c:pt>
              </c:numCache>
            </c:numRef>
          </c:val>
        </c:ser>
        <c:gapWidth val="60"/>
        <c:overlap val="-10"/>
        <c:axId val="-2068027336"/>
        <c:axId val="-2113994440"/>
      </c:barChart>
      <c:catAx>
        <c:axId val="-2068027336"/>
        <c:scaling>
          <c:orientation val="minMax"/>
        </c:scaling>
        <c:delete val="0"/>
        <c:axPos val="l"/>
        <c:majorTickMark val="out"/>
        <c:minorTickMark val="none"/>
        <c:tickLblPos val="nextTo"/>
        <c:spPr>
          <a:ln>
            <a:noFill/>
          </a:ln>
        </c:spPr>
        <c:txPr>
          <a:bodyPr/>
          <a:lstStyle/>
          <a:p>
            <a:pPr>
              <a:defRPr sz="1200"/>
            </a:pPr>
          </a:p>
        </c:txPr>
        <c:crossAx val="-2113994440"/>
        <c:crosses val="autoZero"/>
        <c:auto val="1"/>
        <c:lblAlgn val="ctr"/>
        <c:lblOffset val="100"/>
        <c:noMultiLvlLbl val="0"/>
      </c:catAx>
      <c:valAx>
        <c:axId val="-2113994440"/>
        <c:scaling>
          <c:max val="1.1"/>
          <c:min val="0.0"/>
        </c:scaling>
        <c:delete/>
        <c:axPos val="b"/>
        <c:majorTickMark val="out"/>
        <c:minorTickMark val="none"/>
        <c:tickLblPos val="nextTo"/>
        <c:crossAx val="-2068027336"/>
        <c:crosses val="autoZero"/>
      </c:valAx>
    </c:plotArea>
    <c:legend>
      <c:legendPos val="b"/>
      <c:overlay val="0"/>
      <c:txPr>
        <a:bodyPr/>
        <a:lstStyle/>
        <a:p>
          <a:pPr>
            <a:defRPr sz="1200"/>
          </a:pPr>
        </a:p>
      </c:txPr>
    </c:legend>
    <c:dispBlanksAs val="gap"/>
  </c:chart>
  <c:txPr>
    <a:bodyPr/>
    <a:lstStyle/>
    <a:p>
      <a:pPr>
        <a:defRPr sz="1200">
          <a:solidFill>
            <a:srgbClr val="5F6670"/>
          </a:solidFill>
          <a:latin typeface="Calibri"/>
        </a:defRPr>
      </a:pPr>
      <a:endParaRPr lang="en-US"/>
    </a:p>
  </c:tx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c:date1904 val="0"/>
  <c:chart>
    <c:autoTitleDeleted val="0"/>
    <c:plotArea>
      <c:barChart>
        <c:barDir val="bar"/>
        <c:grouping val="clustered"/>
        <c:ser>
          <c:idx val="0"/>
          <c:order val="0"/>
          <c:tx>
            <c:strRef>
              <c:f>Sheet1!$B$1</c:f>
              <c:strCache>
                <c:ptCount val="1"/>
                <c:pt idx="0">
                  <c:v>RMSE on a held-out speed</c:v>
                </c:pt>
              </c:strCache>
            </c:strRef>
          </c:tx>
          <c:spPr>
            <a:solidFill>
              <a:srgbClr val="2A78D6"/>
            </a:solidFill>
          </c:spPr>
          <c:dPt>
            <c:idx val="0"/>
            <c:spPr>
              <a:solidFill>
                <a:srgbClr val="E8A33D"/>
              </a:solidFill>
            </c:spPr>
          </c:dPt>
          <c:dPt>
            <c:idx val="1"/>
            <c:spPr>
              <a:solidFill>
                <a:srgbClr val="E8A33D"/>
              </a:solidFill>
            </c:spPr>
          </c:dPt>
          <c:dPt>
            <c:idx val="2"/>
            <c:spPr>
              <a:solidFill>
                <a:srgbClr val="E8A33D"/>
              </a:solidFill>
            </c:spPr>
          </c:dPt>
          <c:dLbls>
            <c:numFmt formatCode="0.000" sourceLinked="0"/>
            <c:txPr>
              <a:bodyPr/>
              <a:lstStyle/>
              <a:p>
                <a:pPr>
                  <a:defRPr sz="1100">
                    <a:solidFill>
                      <a:srgbClr val="1B1F24"/>
                    </a:solidFill>
                  </a:defRPr>
                </a:pPr>
              </a:p>
            </c:txPr>
            <c:dLblPos val="outEnd"/>
            <c:showLegendKey val="0"/>
            <c:showVal val="1"/>
            <c:showCatName val="0"/>
            <c:showSerName val="0"/>
            <c:showPercent val="0"/>
            <c:showBubbleSize val="0"/>
            <c:showLeaderLines val="1"/>
          </c:dLbls>
          <c:cat>
            <c:strRef>
              <c:f>Sheet1!$A$2:$A$9</c:f>
              <c:strCache>
                <c:ptCount val="8"/>
                <c:pt idx="0">
                  <c:v>Random forest</c:v>
                </c:pt>
                <c:pt idx="1">
                  <c:v>Gradient boosting</c:v>
                </c:pt>
                <c:pt idx="2">
                  <c:v>Neural network</c:v>
                </c:pt>
                <c:pt idx="3">
                  <c:v>Gaussian process</c:v>
                </c:pt>
                <c:pt idx="4">
                  <c:v>Physics (2 parameters)</c:v>
                </c:pt>
                <c:pt idx="5">
                  <c:v>Physics + Gaussian process</c:v>
                </c:pt>
                <c:pt idx="6">
                  <c:v>Polynomial, degree 2</c:v>
                </c:pt>
                <c:pt idx="7">
                  <c:v>Polynomial, degree 3</c:v>
                </c:pt>
              </c:strCache>
            </c:strRef>
          </c:cat>
          <c:val>
            <c:numRef>
              <c:f>Sheet1!$B$2:$B$9</c:f>
              <c:numCache>
                <c:formatCode>General</c:formatCode>
                <c:ptCount val="8"/>
                <c:pt idx="0">
                  <c:v>0.1124</c:v>
                </c:pt>
                <c:pt idx="1">
                  <c:v>0.1097</c:v>
                </c:pt>
                <c:pt idx="2">
                  <c:v>0.0632</c:v>
                </c:pt>
                <c:pt idx="3">
                  <c:v>0.0172</c:v>
                </c:pt>
                <c:pt idx="4">
                  <c:v>0.0156</c:v>
                </c:pt>
                <c:pt idx="5">
                  <c:v>0.0135</c:v>
                </c:pt>
                <c:pt idx="6">
                  <c:v>0.013</c:v>
                </c:pt>
                <c:pt idx="7">
                  <c:v>0.0105</c:v>
                </c:pt>
              </c:numCache>
            </c:numRef>
          </c:val>
        </c:ser>
        <c:gapWidth val="50"/>
        <c:axId val="-2068027336"/>
        <c:axId val="-2113994440"/>
      </c:barChart>
      <c:catAx>
        <c:axId val="-2068027336"/>
        <c:scaling>
          <c:orientation val="minMax"/>
        </c:scaling>
        <c:delete val="0"/>
        <c:axPos val="l"/>
        <c:majorTickMark val="out"/>
        <c:minorTickMark val="none"/>
        <c:tickLblPos val="nextTo"/>
        <c:spPr>
          <a:ln>
            <a:noFill/>
          </a:ln>
        </c:spPr>
        <c:txPr>
          <a:bodyPr/>
          <a:lstStyle/>
          <a:p>
            <a:pPr>
              <a:defRPr sz="1200"/>
            </a:pPr>
          </a:p>
        </c:txPr>
        <c:crossAx val="-2113994440"/>
        <c:crosses val="autoZero"/>
        <c:auto val="1"/>
        <c:lblAlgn val="ctr"/>
        <c:lblOffset val="100"/>
        <c:noMultiLvlLbl val="0"/>
      </c:catAx>
      <c:valAx>
        <c:axId val="-2113994440"/>
        <c:scaling>
          <c:max val="0.135"/>
        </c:scaling>
        <c:delete/>
        <c:axPos val="b"/>
        <c:majorTickMark val="out"/>
        <c:minorTickMark val="none"/>
        <c:tickLblPos val="nextTo"/>
        <c:crossAx val="-2068027336"/>
        <c:crosses val="autoZero"/>
      </c:valAx>
    </c:plotArea>
    <c:dispBlanksAs val="gap"/>
  </c:chart>
  <c:txPr>
    <a:bodyPr/>
    <a:lstStyle/>
    <a:p>
      <a:pPr>
        <a:defRPr sz="1200">
          <a:solidFill>
            <a:srgbClr val="5F6670"/>
          </a:solidFill>
          <a:latin typeface="Calibri"/>
        </a:defRPr>
      </a:pPr>
      <a:endParaRPr lang="en-US"/>
    </a:p>
  </c:txPr>
  <c:externalData r:id="rId1">
    <c:autoUpdate val="0"/>
  </c:externalData>
</c:chartSpace>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 data-science project on a laboratory fuel-system rig: can we tell from a few sensors whether it is healthy, which component is failing, how badly, and how early, and can we trust the answer?</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Clogged filter, degraded pump, stuck valve, leaking pipe and clogged injector, each emulated by a proportional valve at increasing severity. Sensors: five pressures, one flow meter at the end of the line, and the pump speed.</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audit turned up issues that would silently corrupt an analysis: pressures on two different references, a clipped sensor, mislabelled channels. These became data-quality checks in the final system.</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 random forest given only the time of day scores 96 % when each recording is held out, better than any sensor model. This is the single most important finding about the data, and it shaped every validation choice.</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Pressure falls along the line through the filter, rises 0.47 bar across the pump, then falls across the valve and nozzle. Frequency analysis shows the noise is pump ripple at 6.7 Hz and a gear-mesh line at 80 Hz. The healthy point also drifts through the day, about as much as the mildest faults.</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Each section obeys a pressure-flow law while healthy. Residuals against those laws, plus a pump residual for flow that never reaches the meter, give every fault a distinct pattern. The heatmap shows all 47 recordings.</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Plotting every recording on the pump's pressure-flow plane shows each fault as a path. This view explains why restriction faults and lost-flow faults look different to the pump.</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Leave-one-recording-out scores are high for many models, but the clock alone does as well. Training on clear faults and testing on mild ones separates the approaches: methods that use the direction of a deviation generalise, standard classifiers do not.</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 steady-state network model joins the identified component laws. Faults are injected over wide ranges with random drift and noise, and a gradient-boosting classifier is trained on the synthetic data only.</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Straight-line fits per speed give displacement and slip. The pump matches its datasheet; the flow collapse in the first campaign is the relief valve opening at 50 psig.</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earlier version of this project reported R-squared 0.997 on a shuffled split. Testing on held-out speeds, independent points and another campaign shows which models really generalise.</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Comparing against the recent past works where comparing against a fixed healthy reference fails. The Bayesian detector raised no false alarms on healthy streams.</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digital shadow combines the physics indicators, the rules, a simulation-trained second opinion, a 5-second persistence rule and a green/yellow/red quality indicator. The misses are settings with no physical effect, the two mildest blockages, and one case of drift.</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Every limit met in the project points to a concrete fix, mostly in what data is collected rather than in the models.</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Everything is reproducible from the raw data with one command; the repository has the notebooks, the package, tests and an interactive app.</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png"/><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png"/><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chart" Target="../charts/chart1.xml"/><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6.png"/><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7.png"/><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chart" Target="../charts/chart2.xml"/><Relationship Id="rId3" Type="http://schemas.openxmlformats.org/officeDocument/2006/relationships/image" Target="../media/image8.png"/><Relationship Id="rId4"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9.png"/><Relationship Id="rId3"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0.png"/><Relationship Id="rId3"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5.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13233F"/>
        </a:solidFill>
        <a:effectLst/>
      </p:bgPr>
    </p:bg>
    <p:spTree>
      <p:nvGrpSpPr>
        <p:cNvPr id="1" name=""/>
        <p:cNvGrpSpPr/>
        <p:nvPr/>
      </p:nvGrpSpPr>
      <p:grpSpPr/>
      <p:sp>
        <p:nvSpPr>
          <p:cNvPr id="2" name="Oval 1"/>
          <p:cNvSpPr/>
          <p:nvPr/>
        </p:nvSpPr>
        <p:spPr>
          <a:xfrm>
            <a:off x="548640" y="1417320"/>
            <a:ext cx="320040" cy="320040"/>
          </a:xfrm>
          <a:prstGeom prst="ellipse">
            <a:avLst/>
          </a:prstGeom>
          <a:solidFill>
            <a:srgbClr val="E8A33D"/>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b="1" sz="1600">
                <a:solidFill>
                  <a:srgbClr val="13233F"/>
                </a:solidFill>
                <a:latin typeface="Calibri"/>
              </a:rPr>
              <a:t/>
            </a:r>
          </a:p>
        </p:txBody>
      </p:sp>
      <p:sp>
        <p:nvSpPr>
          <p:cNvPr id="3" name="TextBox 2"/>
          <p:cNvSpPr txBox="1"/>
          <p:nvPr/>
        </p:nvSpPr>
        <p:spPr>
          <a:xfrm>
            <a:off x="548640" y="1920240"/>
            <a:ext cx="10515600" cy="1097280"/>
          </a:xfrm>
          <a:prstGeom prst="rect">
            <a:avLst/>
          </a:prstGeom>
          <a:noFill/>
        </p:spPr>
        <p:txBody>
          <a:bodyPr wrap="square" anchor="t" lIns="0" rIns="0" tIns="0" bIns="0">
            <a:spAutoFit/>
          </a:bodyPr>
          <a:lstStyle/>
          <a:p>
            <a:pPr algn="l"/>
            <a:r>
              <a:rPr sz="5400" b="1" i="0">
                <a:solidFill>
                  <a:srgbClr val="FFFFFF"/>
                </a:solidFill>
                <a:latin typeface="Calibri"/>
              </a:rPr>
              <a:t>Fuel-System Digital Twin</a:t>
            </a:r>
          </a:p>
        </p:txBody>
      </p:sp>
      <p:sp>
        <p:nvSpPr>
          <p:cNvPr id="4" name="TextBox 3"/>
          <p:cNvSpPr txBox="1"/>
          <p:nvPr/>
        </p:nvSpPr>
        <p:spPr>
          <a:xfrm>
            <a:off x="548640" y="2971800"/>
            <a:ext cx="10515600" cy="822960"/>
          </a:xfrm>
          <a:prstGeom prst="rect">
            <a:avLst/>
          </a:prstGeom>
          <a:noFill/>
        </p:spPr>
        <p:txBody>
          <a:bodyPr wrap="square" anchor="t" lIns="0" rIns="0" tIns="0" bIns="0">
            <a:spAutoFit/>
          </a:bodyPr>
          <a:lstStyle/>
          <a:p>
            <a:pPr algn="l"/>
            <a:r>
              <a:rPr sz="2200" b="0" i="0">
                <a:solidFill>
                  <a:srgbClr val="C9D6EA"/>
                </a:solidFill>
                <a:latin typeface="Calibri"/>
              </a:rPr>
              <a:t>Detecting and diagnosing faults in an aircraft fuel rig with physics, machine learning and honest validation</a:t>
            </a:r>
          </a:p>
        </p:txBody>
      </p:sp>
      <p:sp>
        <p:nvSpPr>
          <p:cNvPr id="5" name="TextBox 4"/>
          <p:cNvSpPr txBox="1"/>
          <p:nvPr/>
        </p:nvSpPr>
        <p:spPr>
          <a:xfrm>
            <a:off x="548640" y="5120640"/>
            <a:ext cx="7315200" cy="365760"/>
          </a:xfrm>
          <a:prstGeom prst="rect">
            <a:avLst/>
          </a:prstGeom>
          <a:noFill/>
        </p:spPr>
        <p:txBody>
          <a:bodyPr wrap="square" anchor="t" lIns="0" rIns="0" tIns="0" bIns="0">
            <a:spAutoFit/>
          </a:bodyPr>
          <a:lstStyle/>
          <a:p>
            <a:pPr algn="l"/>
            <a:r>
              <a:rPr sz="1600" b="0" i="0">
                <a:solidFill>
                  <a:srgbClr val="FFFFFF"/>
                </a:solidFill>
                <a:latin typeface="Calibri"/>
              </a:rPr>
              <a:t>Avwerosuo Peter Imoniose  |  Data science project</a:t>
            </a:r>
          </a:p>
        </p:txBody>
      </p:sp>
      <p:sp>
        <p:nvSpPr>
          <p:cNvPr id="6" name="TextBox 5"/>
          <p:cNvSpPr txBox="1"/>
          <p:nvPr/>
        </p:nvSpPr>
        <p:spPr>
          <a:xfrm>
            <a:off x="548640" y="5532120"/>
            <a:ext cx="7315200" cy="365760"/>
          </a:xfrm>
          <a:prstGeom prst="rect">
            <a:avLst/>
          </a:prstGeom>
          <a:noFill/>
        </p:spPr>
        <p:txBody>
          <a:bodyPr wrap="square" anchor="t" lIns="0" rIns="0" tIns="0" bIns="0">
            <a:spAutoFit/>
          </a:bodyPr>
          <a:lstStyle/>
          <a:p>
            <a:pPr algn="l"/>
            <a:r>
              <a:rPr sz="1400" b="0" i="0">
                <a:solidFill>
                  <a:srgbClr val="E8A33D"/>
                </a:solidFill>
                <a:latin typeface="Calibri"/>
              </a:rPr>
              <a:t>github.com/PeterImoniose/fuel-system-digital-twin</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FCFCFB"/>
        </a:solidFill>
        <a:effectLst/>
      </p:bgPr>
    </p:bg>
    <p:spTree>
      <p:nvGrpSpPr>
        <p:cNvPr id="1" name=""/>
        <p:cNvGrpSpPr/>
        <p:nvPr/>
      </p:nvGrpSpPr>
      <p:grpSpPr/>
      <p:sp>
        <p:nvSpPr>
          <p:cNvPr id="2" name="Title"/>
          <p:cNvSpPr txBox="1"/>
          <p:nvPr/>
        </p:nvSpPr>
        <p:spPr>
          <a:xfrm>
            <a:off x="548640" y="411480"/>
            <a:ext cx="11094415" cy="731520"/>
          </a:xfrm>
          <a:prstGeom prst="rect">
            <a:avLst/>
          </a:prstGeom>
          <a:noFill/>
        </p:spPr>
        <p:txBody>
          <a:bodyPr wrap="square" anchor="t" lIns="0" rIns="0" tIns="0" bIns="0">
            <a:spAutoFit/>
          </a:bodyPr>
          <a:lstStyle/>
          <a:p>
            <a:pPr algn="l"/>
            <a:r>
              <a:rPr sz="3400" b="1" i="0">
                <a:solidFill>
                  <a:srgbClr val="1B1F24"/>
                </a:solidFill>
                <a:latin typeface="Calibri"/>
              </a:rPr>
              <a:t>Five ways a fuel system fails, one set of sensors</a:t>
            </a:r>
          </a:p>
        </p:txBody>
      </p:sp>
      <p:sp>
        <p:nvSpPr>
          <p:cNvPr id="3" name="Subtitle"/>
          <p:cNvSpPr txBox="1"/>
          <p:nvPr/>
        </p:nvSpPr>
        <p:spPr>
          <a:xfrm>
            <a:off x="548640" y="1097280"/>
            <a:ext cx="11094415" cy="411480"/>
          </a:xfrm>
          <a:prstGeom prst="rect">
            <a:avLst/>
          </a:prstGeom>
          <a:noFill/>
        </p:spPr>
        <p:txBody>
          <a:bodyPr wrap="square" anchor="t" lIns="0" rIns="0" tIns="0" bIns="0">
            <a:spAutoFit/>
          </a:bodyPr>
          <a:lstStyle/>
          <a:p>
            <a:pPr algn="l"/>
            <a:r>
              <a:rPr sz="1600" b="0" i="0">
                <a:solidFill>
                  <a:srgbClr val="5F6670"/>
                </a:solidFill>
                <a:latin typeface="Calibri"/>
              </a:rPr>
              <a:t>A gear pump feeds a filter, a shut-off valve and an injector; five valves emulate the faults</a:t>
            </a:r>
          </a:p>
        </p:txBody>
      </p:sp>
      <p:pic>
        <p:nvPicPr>
          <p:cNvPr id="4" name="Picture 3" descr="01_rig_schematic.png"/>
          <p:cNvPicPr>
            <a:picLocks noChangeAspect="1"/>
          </p:cNvPicPr>
          <p:nvPr/>
        </p:nvPicPr>
        <p:blipFill>
          <a:blip r:embed="rId2"/>
          <a:stretch>
            <a:fillRect/>
          </a:stretch>
        </p:blipFill>
        <p:spPr>
          <a:xfrm>
            <a:off x="1377866" y="1691639"/>
            <a:ext cx="9405787" cy="3108960"/>
          </a:xfrm>
          <a:prstGeom prst="rect">
            <a:avLst/>
          </a:prstGeom>
        </p:spPr>
      </p:pic>
      <p:sp>
        <p:nvSpPr>
          <p:cNvPr id="5" name="Oval 4"/>
          <p:cNvSpPr/>
          <p:nvPr/>
        </p:nvSpPr>
        <p:spPr>
          <a:xfrm>
            <a:off x="548640" y="5257800"/>
            <a:ext cx="502920" cy="502920"/>
          </a:xfrm>
          <a:prstGeom prst="ellipse">
            <a:avLst/>
          </a:prstGeom>
          <a:solidFill>
            <a:srgbClr val="E8A33D"/>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b="1" sz="1600">
                <a:solidFill>
                  <a:srgbClr val="13233F"/>
                </a:solidFill>
                <a:latin typeface="Calibri"/>
              </a:rPr>
              <a:t>1</a:t>
            </a:r>
          </a:p>
        </p:txBody>
      </p:sp>
      <p:sp>
        <p:nvSpPr>
          <p:cNvPr id="6" name="TextBox 5"/>
          <p:cNvSpPr txBox="1"/>
          <p:nvPr/>
        </p:nvSpPr>
        <p:spPr>
          <a:xfrm>
            <a:off x="1234440" y="5257800"/>
            <a:ext cx="2926080" cy="548640"/>
          </a:xfrm>
          <a:prstGeom prst="rect">
            <a:avLst/>
          </a:prstGeom>
          <a:noFill/>
        </p:spPr>
        <p:txBody>
          <a:bodyPr wrap="square" anchor="ctr" lIns="0" rIns="0" tIns="0" bIns="0">
            <a:spAutoFit/>
          </a:bodyPr>
          <a:lstStyle/>
          <a:p>
            <a:pPr algn="l"/>
            <a:r>
              <a:rPr sz="1700" b="1" i="0">
                <a:solidFill>
                  <a:srgbClr val="1B1F24"/>
                </a:solidFill>
                <a:latin typeface="Calibri"/>
              </a:rPr>
              <a:t>Is the system healthy?</a:t>
            </a:r>
          </a:p>
        </p:txBody>
      </p:sp>
      <p:sp>
        <p:nvSpPr>
          <p:cNvPr id="7" name="Oval 6"/>
          <p:cNvSpPr/>
          <p:nvPr/>
        </p:nvSpPr>
        <p:spPr>
          <a:xfrm>
            <a:off x="4297679" y="5257800"/>
            <a:ext cx="502920" cy="502920"/>
          </a:xfrm>
          <a:prstGeom prst="ellipse">
            <a:avLst/>
          </a:prstGeom>
          <a:solidFill>
            <a:srgbClr val="E8A33D"/>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b="1" sz="1600">
                <a:solidFill>
                  <a:srgbClr val="13233F"/>
                </a:solidFill>
                <a:latin typeface="Calibri"/>
              </a:rPr>
              <a:t>2</a:t>
            </a:r>
          </a:p>
        </p:txBody>
      </p:sp>
      <p:sp>
        <p:nvSpPr>
          <p:cNvPr id="8" name="TextBox 7"/>
          <p:cNvSpPr txBox="1"/>
          <p:nvPr/>
        </p:nvSpPr>
        <p:spPr>
          <a:xfrm>
            <a:off x="4983479" y="5257800"/>
            <a:ext cx="2926080" cy="548640"/>
          </a:xfrm>
          <a:prstGeom prst="rect">
            <a:avLst/>
          </a:prstGeom>
          <a:noFill/>
        </p:spPr>
        <p:txBody>
          <a:bodyPr wrap="square" anchor="ctr" lIns="0" rIns="0" tIns="0" bIns="0">
            <a:spAutoFit/>
          </a:bodyPr>
          <a:lstStyle/>
          <a:p>
            <a:pPr algn="l"/>
            <a:r>
              <a:rPr sz="1700" b="1" i="0">
                <a:solidFill>
                  <a:srgbClr val="1B1F24"/>
                </a:solidFill>
                <a:latin typeface="Calibri"/>
              </a:rPr>
              <a:t>Which component is failing, and how badly?</a:t>
            </a:r>
          </a:p>
        </p:txBody>
      </p:sp>
      <p:sp>
        <p:nvSpPr>
          <p:cNvPr id="9" name="Oval 8"/>
          <p:cNvSpPr/>
          <p:nvPr/>
        </p:nvSpPr>
        <p:spPr>
          <a:xfrm>
            <a:off x="8046719" y="5257800"/>
            <a:ext cx="502920" cy="502920"/>
          </a:xfrm>
          <a:prstGeom prst="ellipse">
            <a:avLst/>
          </a:prstGeom>
          <a:solidFill>
            <a:srgbClr val="E8A33D"/>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b="1" sz="1600">
                <a:solidFill>
                  <a:srgbClr val="13233F"/>
                </a:solidFill>
                <a:latin typeface="Calibri"/>
              </a:rPr>
              <a:t>3</a:t>
            </a:r>
          </a:p>
        </p:txBody>
      </p:sp>
      <p:sp>
        <p:nvSpPr>
          <p:cNvPr id="10" name="TextBox 9"/>
          <p:cNvSpPr txBox="1"/>
          <p:nvPr/>
        </p:nvSpPr>
        <p:spPr>
          <a:xfrm>
            <a:off x="8732519" y="5257800"/>
            <a:ext cx="2926080" cy="548640"/>
          </a:xfrm>
          <a:prstGeom prst="rect">
            <a:avLst/>
          </a:prstGeom>
          <a:noFill/>
        </p:spPr>
        <p:txBody>
          <a:bodyPr wrap="square" anchor="ctr" lIns="0" rIns="0" tIns="0" bIns="0">
            <a:spAutoFit/>
          </a:bodyPr>
          <a:lstStyle/>
          <a:p>
            <a:pPr algn="l"/>
            <a:r>
              <a:rPr sz="1700" b="1" i="0">
                <a:solidFill>
                  <a:srgbClr val="1B1F24"/>
                </a:solidFill>
                <a:latin typeface="Calibri"/>
              </a:rPr>
              <a:t>How early, and with what confidence?</a:t>
            </a:r>
          </a:p>
        </p:txBody>
      </p:sp>
      <p:sp>
        <p:nvSpPr>
          <p:cNvPr id="11" name="TextBox 10"/>
          <p:cNvSpPr txBox="1"/>
          <p:nvPr/>
        </p:nvSpPr>
        <p:spPr>
          <a:xfrm>
            <a:off x="10728655" y="6446520"/>
            <a:ext cx="914400" cy="274320"/>
          </a:xfrm>
          <a:prstGeom prst="rect">
            <a:avLst/>
          </a:prstGeom>
          <a:noFill/>
        </p:spPr>
        <p:txBody>
          <a:bodyPr wrap="square" anchor="t" lIns="0" rIns="0" tIns="0" bIns="0">
            <a:spAutoFit/>
          </a:bodyPr>
          <a:lstStyle/>
          <a:p>
            <a:pPr algn="r"/>
            <a:r>
              <a:rPr sz="1100" b="0" i="0">
                <a:solidFill>
                  <a:srgbClr val="9AA3AD"/>
                </a:solidFill>
                <a:latin typeface="Calibri"/>
              </a:rPr>
              <a:t>2</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FCFCFB"/>
        </a:solidFill>
        <a:effectLst/>
      </p:bgPr>
    </p:bg>
    <p:spTree>
      <p:nvGrpSpPr>
        <p:cNvPr id="1" name=""/>
        <p:cNvGrpSpPr/>
        <p:nvPr/>
      </p:nvGrpSpPr>
      <p:grpSpPr/>
      <p:sp>
        <p:nvSpPr>
          <p:cNvPr id="2" name="Title"/>
          <p:cNvSpPr txBox="1"/>
          <p:nvPr/>
        </p:nvSpPr>
        <p:spPr>
          <a:xfrm>
            <a:off x="548640" y="411480"/>
            <a:ext cx="11094415" cy="731520"/>
          </a:xfrm>
          <a:prstGeom prst="rect">
            <a:avLst/>
          </a:prstGeom>
          <a:noFill/>
        </p:spPr>
        <p:txBody>
          <a:bodyPr wrap="square" anchor="t" lIns="0" rIns="0" tIns="0" bIns="0">
            <a:spAutoFit/>
          </a:bodyPr>
          <a:lstStyle/>
          <a:p>
            <a:pPr algn="l"/>
            <a:r>
              <a:rPr sz="3400" b="1" i="0">
                <a:solidFill>
                  <a:srgbClr val="1B1F24"/>
                </a:solidFill>
                <a:latin typeface="Calibri"/>
              </a:rPr>
              <a:t>The data: 2.8 million sensor readings and 22 pump tests</a:t>
            </a:r>
          </a:p>
        </p:txBody>
      </p:sp>
      <p:sp>
        <p:nvSpPr>
          <p:cNvPr id="3" name="Rounded Rectangle 2"/>
          <p:cNvSpPr/>
          <p:nvPr/>
        </p:nvSpPr>
        <p:spPr>
          <a:xfrm>
            <a:off x="548640" y="1600200"/>
            <a:ext cx="2606040" cy="1737360"/>
          </a:xfrm>
          <a:prstGeom prst="roundRect">
            <a:avLst>
              <a:gd name="adj" fmla="val 8000"/>
            </a:avLst>
          </a:prstGeom>
          <a:solidFill>
            <a:srgbClr val="EEF1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1764792"/>
            <a:ext cx="2148840" cy="685800"/>
          </a:xfrm>
          <a:prstGeom prst="rect">
            <a:avLst/>
          </a:prstGeom>
          <a:noFill/>
        </p:spPr>
        <p:txBody>
          <a:bodyPr wrap="square" anchor="t" lIns="0" rIns="0" tIns="0" bIns="0">
            <a:spAutoFit/>
          </a:bodyPr>
          <a:lstStyle/>
          <a:p>
            <a:pPr algn="l"/>
            <a:r>
              <a:rPr sz="4000" b="1" i="0">
                <a:solidFill>
                  <a:srgbClr val="13233F"/>
                </a:solidFill>
                <a:latin typeface="Calibri"/>
              </a:rPr>
              <a:t>47</a:t>
            </a:r>
          </a:p>
        </p:txBody>
      </p:sp>
      <p:sp>
        <p:nvSpPr>
          <p:cNvPr id="5" name="TextBox 4"/>
          <p:cNvSpPr txBox="1"/>
          <p:nvPr/>
        </p:nvSpPr>
        <p:spPr>
          <a:xfrm>
            <a:off x="777240" y="2441448"/>
            <a:ext cx="2148840" cy="822959"/>
          </a:xfrm>
          <a:prstGeom prst="rect">
            <a:avLst/>
          </a:prstGeom>
          <a:noFill/>
        </p:spPr>
        <p:txBody>
          <a:bodyPr wrap="square" anchor="t" lIns="0" rIns="0" tIns="0" bIns="0">
            <a:spAutoFit/>
          </a:bodyPr>
          <a:lstStyle/>
          <a:p>
            <a:pPr algn="l"/>
            <a:r>
              <a:rPr sz="1300" b="0" i="0">
                <a:solidFill>
                  <a:srgbClr val="5F6670"/>
                </a:solidFill>
                <a:latin typeface="Calibri"/>
              </a:rPr>
              <a:t>rig recordings, 60 s each at 1 kHz: 6 healthy, 41 faulty</a:t>
            </a:r>
          </a:p>
        </p:txBody>
      </p:sp>
      <p:sp>
        <p:nvSpPr>
          <p:cNvPr id="6" name="Rounded Rectangle 5"/>
          <p:cNvSpPr/>
          <p:nvPr/>
        </p:nvSpPr>
        <p:spPr>
          <a:xfrm>
            <a:off x="3346704" y="1600200"/>
            <a:ext cx="2606040" cy="1737360"/>
          </a:xfrm>
          <a:prstGeom prst="roundRect">
            <a:avLst>
              <a:gd name="adj" fmla="val 8000"/>
            </a:avLst>
          </a:prstGeom>
          <a:solidFill>
            <a:srgbClr val="EEF1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3575304" y="1764792"/>
            <a:ext cx="2148840" cy="685800"/>
          </a:xfrm>
          <a:prstGeom prst="rect">
            <a:avLst/>
          </a:prstGeom>
          <a:noFill/>
        </p:spPr>
        <p:txBody>
          <a:bodyPr wrap="square" anchor="t" lIns="0" rIns="0" tIns="0" bIns="0">
            <a:spAutoFit/>
          </a:bodyPr>
          <a:lstStyle/>
          <a:p>
            <a:pPr algn="l"/>
            <a:r>
              <a:rPr sz="4000" b="1" i="0">
                <a:solidFill>
                  <a:srgbClr val="13233F"/>
                </a:solidFill>
                <a:latin typeface="Calibri"/>
              </a:rPr>
              <a:t>5</a:t>
            </a:r>
          </a:p>
        </p:txBody>
      </p:sp>
      <p:sp>
        <p:nvSpPr>
          <p:cNvPr id="8" name="TextBox 7"/>
          <p:cNvSpPr txBox="1"/>
          <p:nvPr/>
        </p:nvSpPr>
        <p:spPr>
          <a:xfrm>
            <a:off x="3575304" y="2441448"/>
            <a:ext cx="2148840" cy="822959"/>
          </a:xfrm>
          <a:prstGeom prst="rect">
            <a:avLst/>
          </a:prstGeom>
          <a:noFill/>
        </p:spPr>
        <p:txBody>
          <a:bodyPr wrap="square" anchor="t" lIns="0" rIns="0" tIns="0" bIns="0">
            <a:spAutoFit/>
          </a:bodyPr>
          <a:lstStyle/>
          <a:p>
            <a:pPr algn="l"/>
            <a:r>
              <a:rPr sz="1300" b="0" i="0">
                <a:solidFill>
                  <a:srgbClr val="5F6670"/>
                </a:solidFill>
                <a:latin typeface="Calibri"/>
              </a:rPr>
              <a:t>fault types at up to 9 severities each (10-100 % valve travel)</a:t>
            </a:r>
          </a:p>
        </p:txBody>
      </p:sp>
      <p:sp>
        <p:nvSpPr>
          <p:cNvPr id="9" name="Rounded Rectangle 8"/>
          <p:cNvSpPr/>
          <p:nvPr/>
        </p:nvSpPr>
        <p:spPr>
          <a:xfrm>
            <a:off x="6144768" y="1600200"/>
            <a:ext cx="2606040" cy="1737360"/>
          </a:xfrm>
          <a:prstGeom prst="roundRect">
            <a:avLst>
              <a:gd name="adj" fmla="val 8000"/>
            </a:avLst>
          </a:prstGeom>
          <a:solidFill>
            <a:srgbClr val="EEF1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373368" y="1764792"/>
            <a:ext cx="2148840" cy="685800"/>
          </a:xfrm>
          <a:prstGeom prst="rect">
            <a:avLst/>
          </a:prstGeom>
          <a:noFill/>
        </p:spPr>
        <p:txBody>
          <a:bodyPr wrap="square" anchor="t" lIns="0" rIns="0" tIns="0" bIns="0">
            <a:spAutoFit/>
          </a:bodyPr>
          <a:lstStyle/>
          <a:p>
            <a:pPr algn="l"/>
            <a:r>
              <a:rPr sz="4000" b="1" i="0">
                <a:solidFill>
                  <a:srgbClr val="13233F"/>
                </a:solidFill>
                <a:latin typeface="Calibri"/>
              </a:rPr>
              <a:t>2.8 M</a:t>
            </a:r>
          </a:p>
        </p:txBody>
      </p:sp>
      <p:sp>
        <p:nvSpPr>
          <p:cNvPr id="11" name="TextBox 10"/>
          <p:cNvSpPr txBox="1"/>
          <p:nvPr/>
        </p:nvSpPr>
        <p:spPr>
          <a:xfrm>
            <a:off x="6373368" y="2441448"/>
            <a:ext cx="2148840" cy="822959"/>
          </a:xfrm>
          <a:prstGeom prst="rect">
            <a:avLst/>
          </a:prstGeom>
          <a:noFill/>
        </p:spPr>
        <p:txBody>
          <a:bodyPr wrap="square" anchor="t" lIns="0" rIns="0" tIns="0" bIns="0">
            <a:spAutoFit/>
          </a:bodyPr>
          <a:lstStyle/>
          <a:p>
            <a:pPr algn="l"/>
            <a:r>
              <a:rPr sz="1300" b="0" i="0">
                <a:solidFill>
                  <a:srgbClr val="5F6670"/>
                </a:solidFill>
                <a:latin typeface="Calibri"/>
              </a:rPr>
              <a:t>samples, averaged into 2 820 one-second windows</a:t>
            </a:r>
          </a:p>
        </p:txBody>
      </p:sp>
      <p:sp>
        <p:nvSpPr>
          <p:cNvPr id="12" name="Rounded Rectangle 11"/>
          <p:cNvSpPr/>
          <p:nvPr/>
        </p:nvSpPr>
        <p:spPr>
          <a:xfrm>
            <a:off x="8942832" y="1600200"/>
            <a:ext cx="2606040" cy="1737360"/>
          </a:xfrm>
          <a:prstGeom prst="roundRect">
            <a:avLst>
              <a:gd name="adj" fmla="val 8000"/>
            </a:avLst>
          </a:prstGeom>
          <a:solidFill>
            <a:srgbClr val="EEF1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9171432" y="1764792"/>
            <a:ext cx="2148840" cy="685800"/>
          </a:xfrm>
          <a:prstGeom prst="rect">
            <a:avLst/>
          </a:prstGeom>
          <a:noFill/>
        </p:spPr>
        <p:txBody>
          <a:bodyPr wrap="square" anchor="t" lIns="0" rIns="0" tIns="0" bIns="0">
            <a:spAutoFit/>
          </a:bodyPr>
          <a:lstStyle/>
          <a:p>
            <a:pPr algn="l"/>
            <a:r>
              <a:rPr sz="4000" b="1" i="0">
                <a:solidFill>
                  <a:srgbClr val="13233F"/>
                </a:solidFill>
                <a:latin typeface="Calibri"/>
              </a:rPr>
              <a:t>22</a:t>
            </a:r>
          </a:p>
        </p:txBody>
      </p:sp>
      <p:sp>
        <p:nvSpPr>
          <p:cNvPr id="14" name="TextBox 13"/>
          <p:cNvSpPr txBox="1"/>
          <p:nvPr/>
        </p:nvSpPr>
        <p:spPr>
          <a:xfrm>
            <a:off x="9171432" y="2441448"/>
            <a:ext cx="2148840" cy="822959"/>
          </a:xfrm>
          <a:prstGeom prst="rect">
            <a:avLst/>
          </a:prstGeom>
          <a:noFill/>
        </p:spPr>
        <p:txBody>
          <a:bodyPr wrap="square" anchor="t" lIns="0" rIns="0" tIns="0" bIns="0">
            <a:spAutoFit/>
          </a:bodyPr>
          <a:lstStyle/>
          <a:p>
            <a:pPr algn="l"/>
            <a:r>
              <a:rPr sz="1300" b="0" i="0">
                <a:solidFill>
                  <a:srgbClr val="5F6670"/>
                </a:solidFill>
                <a:latin typeface="Calibri"/>
              </a:rPr>
              <a:t>pump tests at 400-1140 rpm from two campaigns (2021, 2023)</a:t>
            </a:r>
          </a:p>
        </p:txBody>
      </p:sp>
      <p:sp>
        <p:nvSpPr>
          <p:cNvPr id="15" name="TextBox 14"/>
          <p:cNvSpPr txBox="1"/>
          <p:nvPr/>
        </p:nvSpPr>
        <p:spPr>
          <a:xfrm>
            <a:off x="548640" y="3840480"/>
            <a:ext cx="10972800" cy="2377440"/>
          </a:xfrm>
          <a:prstGeom prst="rect">
            <a:avLst/>
          </a:prstGeom>
          <a:noFill/>
        </p:spPr>
        <p:txBody>
          <a:bodyPr wrap="square" lIns="0" rIns="0" tIns="0" bIns="0">
            <a:spAutoFit/>
          </a:bodyPr>
          <a:lstStyle/>
          <a:p>
            <a:pPr>
              <a:spcAft>
                <a:spcPts val="1000"/>
              </a:spcAft>
            </a:pPr>
            <a:r>
              <a:rPr sz="1300">
                <a:solidFill>
                  <a:srgbClr val="E8A33D"/>
                </a:solidFill>
                <a:latin typeface="Calibri"/>
              </a:rPr>
              <a:t>●  </a:t>
            </a:r>
            <a:r>
              <a:rPr sz="1700" b="1">
                <a:solidFill>
                  <a:srgbClr val="1B1F24"/>
                </a:solidFill>
                <a:latin typeface="Calibri"/>
              </a:rPr>
              <a:t>Data audit first: </a:t>
            </a:r>
            <a:r>
              <a:rPr sz="1700" b="0">
                <a:solidFill>
                  <a:srgbClr val="1B1F24"/>
                </a:solidFill>
                <a:latin typeface="Calibri"/>
              </a:rPr>
              <a:t>mixed gauge and absolute pressures, a sensor clipped at zero, mislabelled columns and a header that hides the real start time.</a:t>
            </a:r>
          </a:p>
          <a:p>
            <a:pPr>
              <a:spcAft>
                <a:spcPts val="1000"/>
              </a:spcAft>
            </a:pPr>
            <a:r>
              <a:rPr sz="1300">
                <a:solidFill>
                  <a:srgbClr val="E8A33D"/>
                </a:solidFill>
                <a:latin typeface="Calibri"/>
              </a:rPr>
              <a:t>●  </a:t>
            </a:r>
            <a:r>
              <a:rPr sz="1700" b="1">
                <a:solidFill>
                  <a:srgbClr val="1B1F24"/>
                </a:solidFill>
                <a:latin typeface="Calibri"/>
              </a:rPr>
              <a:t>Python package </a:t>
            </a:r>
            <a:r>
              <a:rPr sz="1700" b="0">
                <a:solidFill>
                  <a:srgbClr val="1B1F24"/>
                </a:solidFill>
                <a:latin typeface="Calibri"/>
              </a:rPr>
              <a:t>for loading and cleaning (LabVIEW files, units, derived pressure drops), with unit tests.</a:t>
            </a:r>
          </a:p>
          <a:p>
            <a:pPr>
              <a:spcAft>
                <a:spcPts val="1000"/>
              </a:spcAft>
            </a:pPr>
            <a:r>
              <a:rPr sz="1300">
                <a:solidFill>
                  <a:srgbClr val="E8A33D"/>
                </a:solidFill>
                <a:latin typeface="Calibri"/>
              </a:rPr>
              <a:t>●  </a:t>
            </a:r>
            <a:r>
              <a:rPr sz="1700" b="1">
                <a:solidFill>
                  <a:srgbClr val="1B1F24"/>
                </a:solidFill>
                <a:latin typeface="Calibri"/>
              </a:rPr>
              <a:t>Eight notebooks </a:t>
            </a:r>
            <a:r>
              <a:rPr sz="1700" b="0">
                <a:solidFill>
                  <a:srgbClr val="1B1F24"/>
                </a:solidFill>
                <a:latin typeface="Calibri"/>
              </a:rPr>
              <a:t>from audit to live monitoring, all rebuilt from raw data with one command.</a:t>
            </a:r>
          </a:p>
        </p:txBody>
      </p:sp>
      <p:sp>
        <p:nvSpPr>
          <p:cNvPr id="16" name="TextBox 15"/>
          <p:cNvSpPr txBox="1"/>
          <p:nvPr/>
        </p:nvSpPr>
        <p:spPr>
          <a:xfrm>
            <a:off x="10728655" y="6446520"/>
            <a:ext cx="914400" cy="274320"/>
          </a:xfrm>
          <a:prstGeom prst="rect">
            <a:avLst/>
          </a:prstGeom>
          <a:noFill/>
        </p:spPr>
        <p:txBody>
          <a:bodyPr wrap="square" anchor="t" lIns="0" rIns="0" tIns="0" bIns="0">
            <a:spAutoFit/>
          </a:bodyPr>
          <a:lstStyle/>
          <a:p>
            <a:pPr algn="r"/>
            <a:r>
              <a:rPr sz="1100" b="0" i="0">
                <a:solidFill>
                  <a:srgbClr val="9AA3AD"/>
                </a:solidFill>
                <a:latin typeface="Calibri"/>
              </a:rPr>
              <a:t>3</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FCFCFB"/>
        </a:solidFill>
        <a:effectLst/>
      </p:bgPr>
    </p:bg>
    <p:spTree>
      <p:nvGrpSpPr>
        <p:cNvPr id="1" name=""/>
        <p:cNvGrpSpPr/>
        <p:nvPr/>
      </p:nvGrpSpPr>
      <p:grpSpPr/>
      <p:sp>
        <p:nvSpPr>
          <p:cNvPr id="2" name="Title"/>
          <p:cNvSpPr txBox="1"/>
          <p:nvPr/>
        </p:nvSpPr>
        <p:spPr>
          <a:xfrm>
            <a:off x="548640" y="411480"/>
            <a:ext cx="11094415" cy="731520"/>
          </a:xfrm>
          <a:prstGeom prst="rect">
            <a:avLst/>
          </a:prstGeom>
          <a:noFill/>
        </p:spPr>
        <p:txBody>
          <a:bodyPr wrap="square" anchor="t" lIns="0" rIns="0" tIns="0" bIns="0">
            <a:spAutoFit/>
          </a:bodyPr>
          <a:lstStyle/>
          <a:p>
            <a:pPr algn="l"/>
            <a:r>
              <a:rPr sz="3400" b="1" i="0">
                <a:solidFill>
                  <a:srgbClr val="1B1F24"/>
                </a:solidFill>
                <a:latin typeface="Calibri"/>
              </a:rPr>
              <a:t>The catch: every fault was recorded at a different time of day</a:t>
            </a:r>
          </a:p>
        </p:txBody>
      </p:sp>
      <p:pic>
        <p:nvPicPr>
          <p:cNvPr id="3" name="Picture 2" descr="01_recording_timeline.png"/>
          <p:cNvPicPr>
            <a:picLocks noChangeAspect="1"/>
          </p:cNvPicPr>
          <p:nvPr/>
        </p:nvPicPr>
        <p:blipFill>
          <a:blip r:embed="rId2"/>
          <a:stretch>
            <a:fillRect/>
          </a:stretch>
        </p:blipFill>
        <p:spPr>
          <a:xfrm>
            <a:off x="548640" y="1644466"/>
            <a:ext cx="7498079" cy="2654667"/>
          </a:xfrm>
          <a:prstGeom prst="rect">
            <a:avLst/>
          </a:prstGeom>
        </p:spPr>
      </p:pic>
      <p:sp>
        <p:nvSpPr>
          <p:cNvPr id="4" name="Rounded Rectangle 3"/>
          <p:cNvSpPr/>
          <p:nvPr/>
        </p:nvSpPr>
        <p:spPr>
          <a:xfrm>
            <a:off x="8412480" y="1554480"/>
            <a:ext cx="3200400" cy="1737360"/>
          </a:xfrm>
          <a:prstGeom prst="roundRect">
            <a:avLst>
              <a:gd name="adj" fmla="val 8000"/>
            </a:avLst>
          </a:prstGeom>
          <a:solidFill>
            <a:srgbClr val="EEF1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8641080" y="1719072"/>
            <a:ext cx="2743200" cy="685800"/>
          </a:xfrm>
          <a:prstGeom prst="rect">
            <a:avLst/>
          </a:prstGeom>
          <a:noFill/>
        </p:spPr>
        <p:txBody>
          <a:bodyPr wrap="square" anchor="t" lIns="0" rIns="0" tIns="0" bIns="0">
            <a:spAutoFit/>
          </a:bodyPr>
          <a:lstStyle/>
          <a:p>
            <a:pPr algn="l"/>
            <a:r>
              <a:rPr sz="4800" b="1" i="0">
                <a:solidFill>
                  <a:srgbClr val="13233F"/>
                </a:solidFill>
                <a:latin typeface="Calibri"/>
              </a:rPr>
              <a:t>96 %</a:t>
            </a:r>
          </a:p>
        </p:txBody>
      </p:sp>
      <p:sp>
        <p:nvSpPr>
          <p:cNvPr id="6" name="TextBox 5"/>
          <p:cNvSpPr txBox="1"/>
          <p:nvPr/>
        </p:nvSpPr>
        <p:spPr>
          <a:xfrm>
            <a:off x="8641080" y="2395728"/>
            <a:ext cx="2743200" cy="822959"/>
          </a:xfrm>
          <a:prstGeom prst="rect">
            <a:avLst/>
          </a:prstGeom>
          <a:noFill/>
        </p:spPr>
        <p:txBody>
          <a:bodyPr wrap="square" anchor="t" lIns="0" rIns="0" tIns="0" bIns="0">
            <a:spAutoFit/>
          </a:bodyPr>
          <a:lstStyle/>
          <a:p>
            <a:pPr algn="l"/>
            <a:r>
              <a:rPr sz="1300" b="0" i="0">
                <a:solidFill>
                  <a:srgbClr val="5F6670"/>
                </a:solidFill>
                <a:latin typeface="Calibri"/>
              </a:rPr>
              <a:t>of windows named correctly by a model that sees only the clock</a:t>
            </a:r>
          </a:p>
        </p:txBody>
      </p:sp>
      <p:sp>
        <p:nvSpPr>
          <p:cNvPr id="7" name="TextBox 6"/>
          <p:cNvSpPr txBox="1"/>
          <p:nvPr/>
        </p:nvSpPr>
        <p:spPr>
          <a:xfrm>
            <a:off x="548640" y="4800600"/>
            <a:ext cx="11064240" cy="1737360"/>
          </a:xfrm>
          <a:prstGeom prst="rect">
            <a:avLst/>
          </a:prstGeom>
          <a:noFill/>
        </p:spPr>
        <p:txBody>
          <a:bodyPr wrap="square" lIns="0" rIns="0" tIns="0" bIns="0">
            <a:spAutoFit/>
          </a:bodyPr>
          <a:lstStyle/>
          <a:p>
            <a:pPr>
              <a:spcAft>
                <a:spcPts val="1000"/>
              </a:spcAft>
            </a:pPr>
            <a:r>
              <a:rPr sz="1300">
                <a:solidFill>
                  <a:srgbClr val="E8A33D"/>
                </a:solidFill>
                <a:latin typeface="Calibri"/>
              </a:rPr>
              <a:t>●  </a:t>
            </a:r>
            <a:r>
              <a:rPr sz="1700" b="0">
                <a:solidFill>
                  <a:srgbClr val="1B1F24"/>
                </a:solidFill>
                <a:latin typeface="Calibri"/>
              </a:rPr>
              <a:t>Healthy data exists only for 09:58-10:03; faults follow in blocks until 16:11.</a:t>
            </a:r>
          </a:p>
          <a:p>
            <a:pPr>
              <a:spcAft>
                <a:spcPts val="1000"/>
              </a:spcAft>
            </a:pPr>
            <a:r>
              <a:rPr sz="1300">
                <a:solidFill>
                  <a:srgbClr val="E8A33D"/>
                </a:solidFill>
                <a:latin typeface="Calibri"/>
              </a:rPr>
              <a:t>●  </a:t>
            </a:r>
            <a:r>
              <a:rPr sz="1700" b="1">
                <a:solidFill>
                  <a:srgbClr val="1B1F24"/>
                </a:solidFill>
                <a:latin typeface="Calibri"/>
              </a:rPr>
              <a:t>So accuracy alone proves nothing here: </a:t>
            </a:r>
            <a:r>
              <a:rPr sz="1700" b="0">
                <a:solidFill>
                  <a:srgbClr val="1B1F24"/>
                </a:solidFill>
                <a:latin typeface="Calibri"/>
              </a:rPr>
              <a:t>the key results come from tests the clock cannot help with.</a:t>
            </a:r>
          </a:p>
        </p:txBody>
      </p:sp>
      <p:sp>
        <p:nvSpPr>
          <p:cNvPr id="8" name="TextBox 7"/>
          <p:cNvSpPr txBox="1"/>
          <p:nvPr/>
        </p:nvSpPr>
        <p:spPr>
          <a:xfrm>
            <a:off x="10728655" y="6446520"/>
            <a:ext cx="914400" cy="274320"/>
          </a:xfrm>
          <a:prstGeom prst="rect">
            <a:avLst/>
          </a:prstGeom>
          <a:noFill/>
        </p:spPr>
        <p:txBody>
          <a:bodyPr wrap="square" anchor="t" lIns="0" rIns="0" tIns="0" bIns="0">
            <a:spAutoFit/>
          </a:bodyPr>
          <a:lstStyle/>
          <a:p>
            <a:pPr algn="r"/>
            <a:r>
              <a:rPr sz="1100" b="0" i="0">
                <a:solidFill>
                  <a:srgbClr val="9AA3AD"/>
                </a:solidFill>
                <a:latin typeface="Calibri"/>
              </a:rPr>
              <a:t>4</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FCFCFB"/>
        </a:solidFill>
        <a:effectLst/>
      </p:bgPr>
    </p:bg>
    <p:spTree>
      <p:nvGrpSpPr>
        <p:cNvPr id="1" name=""/>
        <p:cNvGrpSpPr/>
        <p:nvPr/>
      </p:nvGrpSpPr>
      <p:grpSpPr/>
      <p:sp>
        <p:nvSpPr>
          <p:cNvPr id="2" name="Title"/>
          <p:cNvSpPr txBox="1"/>
          <p:nvPr/>
        </p:nvSpPr>
        <p:spPr>
          <a:xfrm>
            <a:off x="548640" y="411480"/>
            <a:ext cx="11094415" cy="731520"/>
          </a:xfrm>
          <a:prstGeom prst="rect">
            <a:avLst/>
          </a:prstGeom>
          <a:noFill/>
        </p:spPr>
        <p:txBody>
          <a:bodyPr wrap="square" anchor="t" lIns="0" rIns="0" tIns="0" bIns="0">
            <a:spAutoFit/>
          </a:bodyPr>
          <a:lstStyle/>
          <a:p>
            <a:pPr algn="l"/>
            <a:r>
              <a:rPr sz="3400" b="1" i="0">
                <a:solidFill>
                  <a:srgbClr val="1B1F24"/>
                </a:solidFill>
                <a:latin typeface="Calibri"/>
              </a:rPr>
              <a:t>Normal is repeatable, and the noise is the pump itself</a:t>
            </a:r>
          </a:p>
        </p:txBody>
      </p:sp>
      <p:pic>
        <p:nvPicPr>
          <p:cNvPr id="3" name="Picture 2" descr="02_pressure_profile.png"/>
          <p:cNvPicPr>
            <a:picLocks noChangeAspect="1"/>
          </p:cNvPicPr>
          <p:nvPr/>
        </p:nvPicPr>
        <p:blipFill>
          <a:blip r:embed="rId2"/>
          <a:stretch>
            <a:fillRect/>
          </a:stretch>
        </p:blipFill>
        <p:spPr>
          <a:xfrm>
            <a:off x="548640" y="1633152"/>
            <a:ext cx="6766560" cy="3408814"/>
          </a:xfrm>
          <a:prstGeom prst="rect">
            <a:avLst/>
          </a:prstGeom>
        </p:spPr>
      </p:pic>
      <p:sp>
        <p:nvSpPr>
          <p:cNvPr id="4" name="Rounded Rectangle 3"/>
          <p:cNvSpPr/>
          <p:nvPr/>
        </p:nvSpPr>
        <p:spPr>
          <a:xfrm>
            <a:off x="7726679" y="1417320"/>
            <a:ext cx="3931920" cy="1325880"/>
          </a:xfrm>
          <a:prstGeom prst="roundRect">
            <a:avLst>
              <a:gd name="adj" fmla="val 8000"/>
            </a:avLst>
          </a:prstGeom>
          <a:solidFill>
            <a:srgbClr val="EEF1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7955279" y="1581912"/>
            <a:ext cx="3474720" cy="685800"/>
          </a:xfrm>
          <a:prstGeom prst="rect">
            <a:avLst/>
          </a:prstGeom>
          <a:noFill/>
        </p:spPr>
        <p:txBody>
          <a:bodyPr wrap="square" anchor="t" lIns="0" rIns="0" tIns="0" bIns="0">
            <a:spAutoFit/>
          </a:bodyPr>
          <a:lstStyle/>
          <a:p>
            <a:pPr algn="l"/>
            <a:r>
              <a:rPr sz="4000" b="1" i="0">
                <a:solidFill>
                  <a:srgbClr val="13233F"/>
                </a:solidFill>
                <a:latin typeface="Calibri"/>
              </a:rPr>
              <a:t>0.06 %</a:t>
            </a:r>
          </a:p>
        </p:txBody>
      </p:sp>
      <p:sp>
        <p:nvSpPr>
          <p:cNvPr id="6" name="TextBox 5"/>
          <p:cNvSpPr txBox="1"/>
          <p:nvPr/>
        </p:nvSpPr>
        <p:spPr>
          <a:xfrm>
            <a:off x="7955279" y="2258568"/>
            <a:ext cx="3474720" cy="411479"/>
          </a:xfrm>
          <a:prstGeom prst="rect">
            <a:avLst/>
          </a:prstGeom>
          <a:noFill/>
        </p:spPr>
        <p:txBody>
          <a:bodyPr wrap="square" anchor="t" lIns="0" rIns="0" tIns="0" bIns="0">
            <a:spAutoFit/>
          </a:bodyPr>
          <a:lstStyle/>
          <a:p>
            <a:pPr algn="l"/>
            <a:r>
              <a:rPr sz="1300" b="0" i="0">
                <a:solidFill>
                  <a:srgbClr val="5F6670"/>
                </a:solidFill>
                <a:latin typeface="Calibri"/>
              </a:rPr>
              <a:t>variation in flow between healthy runs</a:t>
            </a:r>
          </a:p>
        </p:txBody>
      </p:sp>
      <p:sp>
        <p:nvSpPr>
          <p:cNvPr id="7" name="Rounded Rectangle 6"/>
          <p:cNvSpPr/>
          <p:nvPr/>
        </p:nvSpPr>
        <p:spPr>
          <a:xfrm>
            <a:off x="7726679" y="2880360"/>
            <a:ext cx="3931920" cy="1325880"/>
          </a:xfrm>
          <a:prstGeom prst="roundRect">
            <a:avLst>
              <a:gd name="adj" fmla="val 8000"/>
            </a:avLst>
          </a:prstGeom>
          <a:solidFill>
            <a:srgbClr val="EEF1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955279" y="3044952"/>
            <a:ext cx="3474720" cy="685800"/>
          </a:xfrm>
          <a:prstGeom prst="rect">
            <a:avLst/>
          </a:prstGeom>
          <a:noFill/>
        </p:spPr>
        <p:txBody>
          <a:bodyPr wrap="square" anchor="t" lIns="0" rIns="0" tIns="0" bIns="0">
            <a:spAutoFit/>
          </a:bodyPr>
          <a:lstStyle/>
          <a:p>
            <a:pPr algn="l"/>
            <a:r>
              <a:rPr sz="4000" b="1" i="0">
                <a:solidFill>
                  <a:srgbClr val="13233F"/>
                </a:solidFill>
                <a:latin typeface="Calibri"/>
              </a:rPr>
              <a:t>~75 %</a:t>
            </a:r>
          </a:p>
        </p:txBody>
      </p:sp>
      <p:sp>
        <p:nvSpPr>
          <p:cNvPr id="9" name="TextBox 8"/>
          <p:cNvSpPr txBox="1"/>
          <p:nvPr/>
        </p:nvSpPr>
        <p:spPr>
          <a:xfrm>
            <a:off x="7955279" y="3721608"/>
            <a:ext cx="3474720" cy="411479"/>
          </a:xfrm>
          <a:prstGeom prst="rect">
            <a:avLst/>
          </a:prstGeom>
          <a:noFill/>
        </p:spPr>
        <p:txBody>
          <a:bodyPr wrap="square" anchor="t" lIns="0" rIns="0" tIns="0" bIns="0">
            <a:spAutoFit/>
          </a:bodyPr>
          <a:lstStyle/>
          <a:p>
            <a:pPr algn="l"/>
            <a:r>
              <a:rPr sz="1300" b="0" i="0">
                <a:solidFill>
                  <a:srgbClr val="5F6670"/>
                </a:solidFill>
                <a:latin typeface="Calibri"/>
              </a:rPr>
              <a:t>of pressure fluctuation sits at the pump's shaft frequency and harmonics</a:t>
            </a:r>
          </a:p>
        </p:txBody>
      </p:sp>
      <p:sp>
        <p:nvSpPr>
          <p:cNvPr id="10" name="Rounded Rectangle 9"/>
          <p:cNvSpPr/>
          <p:nvPr/>
        </p:nvSpPr>
        <p:spPr>
          <a:xfrm>
            <a:off x="7726679" y="4343400"/>
            <a:ext cx="3931920" cy="1325880"/>
          </a:xfrm>
          <a:prstGeom prst="roundRect">
            <a:avLst>
              <a:gd name="adj" fmla="val 8000"/>
            </a:avLst>
          </a:prstGeom>
          <a:solidFill>
            <a:srgbClr val="EEF1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7955279" y="4507992"/>
            <a:ext cx="3474720" cy="685800"/>
          </a:xfrm>
          <a:prstGeom prst="rect">
            <a:avLst/>
          </a:prstGeom>
          <a:noFill/>
        </p:spPr>
        <p:txBody>
          <a:bodyPr wrap="square" anchor="t" lIns="0" rIns="0" tIns="0" bIns="0">
            <a:spAutoFit/>
          </a:bodyPr>
          <a:lstStyle/>
          <a:p>
            <a:pPr algn="l"/>
            <a:r>
              <a:rPr sz="4000" b="1" i="0">
                <a:solidFill>
                  <a:srgbClr val="13233F"/>
                </a:solidFill>
                <a:latin typeface="Calibri"/>
              </a:rPr>
              <a:t>1-3.5 %</a:t>
            </a:r>
          </a:p>
        </p:txBody>
      </p:sp>
      <p:sp>
        <p:nvSpPr>
          <p:cNvPr id="12" name="TextBox 11"/>
          <p:cNvSpPr txBox="1"/>
          <p:nvPr/>
        </p:nvSpPr>
        <p:spPr>
          <a:xfrm>
            <a:off x="7955279" y="5184648"/>
            <a:ext cx="3474720" cy="411479"/>
          </a:xfrm>
          <a:prstGeom prst="rect">
            <a:avLst/>
          </a:prstGeom>
          <a:noFill/>
        </p:spPr>
        <p:txBody>
          <a:bodyPr wrap="square" anchor="t" lIns="0" rIns="0" tIns="0" bIns="0">
            <a:spAutoFit/>
          </a:bodyPr>
          <a:lstStyle/>
          <a:p>
            <a:pPr algn="l"/>
            <a:r>
              <a:rPr sz="1300" b="0" i="0">
                <a:solidFill>
                  <a:srgbClr val="5F6670"/>
                </a:solidFill>
                <a:latin typeface="Calibri"/>
              </a:rPr>
              <a:t>drop in pump delivery by the afternoon: drift, not a fault</a:t>
            </a:r>
          </a:p>
        </p:txBody>
      </p:sp>
      <p:sp>
        <p:nvSpPr>
          <p:cNvPr id="13" name="TextBox 12"/>
          <p:cNvSpPr txBox="1"/>
          <p:nvPr/>
        </p:nvSpPr>
        <p:spPr>
          <a:xfrm>
            <a:off x="548640" y="5897880"/>
            <a:ext cx="10972800" cy="548640"/>
          </a:xfrm>
          <a:prstGeom prst="rect">
            <a:avLst/>
          </a:prstGeom>
          <a:noFill/>
        </p:spPr>
        <p:txBody>
          <a:bodyPr wrap="square" anchor="t" lIns="0" rIns="0" tIns="0" bIns="0">
            <a:spAutoFit/>
          </a:bodyPr>
          <a:lstStyle/>
          <a:p>
            <a:pPr algn="l"/>
            <a:r>
              <a:rPr sz="1600" b="0" i="1">
                <a:solidFill>
                  <a:srgbClr val="5F6670"/>
                </a:solidFill>
                <a:latin typeface="Calibri"/>
              </a:rPr>
              <a:t>Healthy limits belong on 1 s averages: limits on raw samples are 2-14 times wider and hide small faults.</a:t>
            </a:r>
          </a:p>
        </p:txBody>
      </p:sp>
      <p:sp>
        <p:nvSpPr>
          <p:cNvPr id="14" name="TextBox 13"/>
          <p:cNvSpPr txBox="1"/>
          <p:nvPr/>
        </p:nvSpPr>
        <p:spPr>
          <a:xfrm>
            <a:off x="10728655" y="6446520"/>
            <a:ext cx="914400" cy="274320"/>
          </a:xfrm>
          <a:prstGeom prst="rect">
            <a:avLst/>
          </a:prstGeom>
          <a:noFill/>
        </p:spPr>
        <p:txBody>
          <a:bodyPr wrap="square" anchor="t" lIns="0" rIns="0" tIns="0" bIns="0">
            <a:spAutoFit/>
          </a:bodyPr>
          <a:lstStyle/>
          <a:p>
            <a:pPr algn="r"/>
            <a:r>
              <a:rPr sz="1100" b="0" i="0">
                <a:solidFill>
                  <a:srgbClr val="9AA3AD"/>
                </a:solidFill>
                <a:latin typeface="Calibri"/>
              </a:rPr>
              <a:t>5</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FCFCFB"/>
        </a:solidFill>
        <a:effectLst/>
      </p:bgPr>
    </p:bg>
    <p:spTree>
      <p:nvGrpSpPr>
        <p:cNvPr id="1" name=""/>
        <p:cNvGrpSpPr/>
        <p:nvPr/>
      </p:nvGrpSpPr>
      <p:grpSpPr/>
      <p:sp>
        <p:nvSpPr>
          <p:cNvPr id="2" name="Title"/>
          <p:cNvSpPr txBox="1"/>
          <p:nvPr/>
        </p:nvSpPr>
        <p:spPr>
          <a:xfrm>
            <a:off x="548640" y="411480"/>
            <a:ext cx="11094415" cy="731520"/>
          </a:xfrm>
          <a:prstGeom prst="rect">
            <a:avLst/>
          </a:prstGeom>
          <a:noFill/>
        </p:spPr>
        <p:txBody>
          <a:bodyPr wrap="square" anchor="t" lIns="0" rIns="0" tIns="0" bIns="0">
            <a:spAutoFit/>
          </a:bodyPr>
          <a:lstStyle/>
          <a:p>
            <a:pPr algn="l"/>
            <a:r>
              <a:rPr sz="3400" b="1" i="0">
                <a:solidFill>
                  <a:srgbClr val="1B1F24"/>
                </a:solidFill>
                <a:latin typeface="Calibri"/>
              </a:rPr>
              <a:t>Physics-based indicators tell all five faults apart</a:t>
            </a:r>
          </a:p>
        </p:txBody>
      </p:sp>
      <p:pic>
        <p:nvPicPr>
          <p:cNvPr id="3" name="Picture 2" descr="03_residual_heatmap.png"/>
          <p:cNvPicPr>
            <a:picLocks noChangeAspect="1"/>
          </p:cNvPicPr>
          <p:nvPr/>
        </p:nvPicPr>
        <p:blipFill>
          <a:blip r:embed="rId2"/>
          <a:stretch>
            <a:fillRect/>
          </a:stretch>
        </p:blipFill>
        <p:spPr>
          <a:xfrm>
            <a:off x="8406344" y="1234440"/>
            <a:ext cx="3121231" cy="5212080"/>
          </a:xfrm>
          <a:prstGeom prst="rect">
            <a:avLst/>
          </a:prstGeom>
        </p:spPr>
      </p:pic>
      <p:sp>
        <p:nvSpPr>
          <p:cNvPr id="4" name="TextBox 3"/>
          <p:cNvSpPr txBox="1"/>
          <p:nvPr/>
        </p:nvSpPr>
        <p:spPr>
          <a:xfrm>
            <a:off x="548640" y="1371600"/>
            <a:ext cx="6949440" cy="3108960"/>
          </a:xfrm>
          <a:prstGeom prst="rect">
            <a:avLst/>
          </a:prstGeom>
          <a:noFill/>
        </p:spPr>
        <p:txBody>
          <a:bodyPr wrap="square" lIns="0" rIns="0" tIns="0" bIns="0">
            <a:spAutoFit/>
          </a:bodyPr>
          <a:lstStyle/>
          <a:p>
            <a:pPr>
              <a:spcAft>
                <a:spcPts val="1000"/>
              </a:spcAft>
            </a:pPr>
            <a:r>
              <a:rPr sz="1300">
                <a:solidFill>
                  <a:srgbClr val="E8A33D"/>
                </a:solidFill>
                <a:latin typeface="Calibri"/>
              </a:rPr>
              <a:t>●  </a:t>
            </a:r>
            <a:r>
              <a:rPr sz="1700" b="1">
                <a:solidFill>
                  <a:srgbClr val="1B1F24"/>
                </a:solidFill>
                <a:latin typeface="Calibri"/>
              </a:rPr>
              <a:t>One indicator per pipe section: </a:t>
            </a:r>
            <a:r>
              <a:rPr sz="1700" b="0">
                <a:solidFill>
                  <a:srgbClr val="1B1F24"/>
                </a:solidFill>
                <a:latin typeface="Calibri"/>
              </a:rPr>
              <a:t>measured pressure drop against what a healthy section would show at that flow.</a:t>
            </a:r>
          </a:p>
          <a:p>
            <a:pPr>
              <a:spcAft>
                <a:spcPts val="1000"/>
              </a:spcAft>
            </a:pPr>
            <a:r>
              <a:rPr sz="1300">
                <a:solidFill>
                  <a:srgbClr val="E8A33D"/>
                </a:solidFill>
                <a:latin typeface="Calibri"/>
              </a:rPr>
              <a:t>●  </a:t>
            </a:r>
            <a:r>
              <a:rPr sz="1700" b="1">
                <a:solidFill>
                  <a:srgbClr val="1B1F24"/>
                </a:solidFill>
                <a:latin typeface="Calibri"/>
              </a:rPr>
              <a:t>Fitted without the fault being scored </a:t>
            </a:r>
            <a:r>
              <a:rPr sz="1700" b="0">
                <a:solidFill>
                  <a:srgbClr val="1B1F24"/>
                </a:solidFill>
                <a:latin typeface="Calibri"/>
              </a:rPr>
              <a:t>(leave-one-fault-out), so no fault ever sees its own data.</a:t>
            </a:r>
          </a:p>
          <a:p>
            <a:pPr>
              <a:spcAft>
                <a:spcPts val="1000"/>
              </a:spcAft>
            </a:pPr>
            <a:r>
              <a:rPr sz="1300">
                <a:solidFill>
                  <a:srgbClr val="E8A33D"/>
                </a:solidFill>
                <a:latin typeface="Calibri"/>
              </a:rPr>
              <a:t>●  </a:t>
            </a:r>
            <a:r>
              <a:rPr sz="1700" b="1">
                <a:solidFill>
                  <a:srgbClr val="1B1F24"/>
                </a:solidFill>
                <a:latin typeface="Calibri"/>
              </a:rPr>
              <a:t>Each fault lights up its own pattern, </a:t>
            </a:r>
            <a:r>
              <a:rPr sz="1700" b="0">
                <a:solidFill>
                  <a:srgbClr val="1B1F24"/>
                </a:solidFill>
                <a:latin typeface="Calibri"/>
              </a:rPr>
              <a:t>including filter, pump and leak faults that the rig's expert rules cannot separate.</a:t>
            </a:r>
          </a:p>
        </p:txBody>
      </p:sp>
      <p:sp>
        <p:nvSpPr>
          <p:cNvPr id="5" name="Rounded Rectangle 4"/>
          <p:cNvSpPr/>
          <p:nvPr/>
        </p:nvSpPr>
        <p:spPr>
          <a:xfrm>
            <a:off x="548640" y="5074920"/>
            <a:ext cx="6949440" cy="1280160"/>
          </a:xfrm>
          <a:prstGeom prst="roundRect">
            <a:avLst>
              <a:gd name="adj" fmla="val 8000"/>
            </a:avLst>
          </a:prstGeom>
          <a:solidFill>
            <a:srgbClr val="EEF1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822959" y="5193792"/>
            <a:ext cx="6400800" cy="1097280"/>
          </a:xfrm>
          <a:prstGeom prst="rect">
            <a:avLst/>
          </a:prstGeom>
          <a:noFill/>
        </p:spPr>
        <p:txBody>
          <a:bodyPr wrap="square" anchor="t" lIns="0" rIns="0" tIns="0" bIns="0">
            <a:spAutoFit/>
          </a:bodyPr>
          <a:lstStyle/>
          <a:p>
            <a:pPr algn="l"/>
            <a:r>
              <a:rPr sz="1600" b="1" i="0">
                <a:solidFill>
                  <a:srgbClr val="13233F"/>
                </a:solidFill>
                <a:latin typeface="Calibri"/>
              </a:rPr>
              <a:t>Key insight: </a:t>
            </a:r>
            <a:r>
              <a:rPr sz="1600" b="0" i="0">
                <a:solidFill>
                  <a:srgbClr val="1B1F24"/>
                </a:solidFill>
                <a:latin typeface="Calibri"/>
              </a:rPr>
              <a:t>leak flow still passes through the shut-off valve before escaping, so the valve's pressure drop rises for a leak but falls for a pump fault. One physical fact resolves the ambiguity.</a:t>
            </a:r>
          </a:p>
        </p:txBody>
      </p:sp>
      <p:sp>
        <p:nvSpPr>
          <p:cNvPr id="7" name="TextBox 6"/>
          <p:cNvSpPr txBox="1"/>
          <p:nvPr/>
        </p:nvSpPr>
        <p:spPr>
          <a:xfrm>
            <a:off x="10728655" y="6446520"/>
            <a:ext cx="914400" cy="274320"/>
          </a:xfrm>
          <a:prstGeom prst="rect">
            <a:avLst/>
          </a:prstGeom>
          <a:noFill/>
        </p:spPr>
        <p:txBody>
          <a:bodyPr wrap="square" anchor="t" lIns="0" rIns="0" tIns="0" bIns="0">
            <a:spAutoFit/>
          </a:bodyPr>
          <a:lstStyle/>
          <a:p>
            <a:pPr algn="r"/>
            <a:r>
              <a:rPr sz="1100" b="0" i="0">
                <a:solidFill>
                  <a:srgbClr val="9AA3AD"/>
                </a:solidFill>
                <a:latin typeface="Calibri"/>
              </a:rPr>
              <a:t>6</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FCFCFB"/>
        </a:solidFill>
        <a:effectLst/>
      </p:bgPr>
    </p:bg>
    <p:spTree>
      <p:nvGrpSpPr>
        <p:cNvPr id="1" name=""/>
        <p:cNvGrpSpPr/>
        <p:nvPr/>
      </p:nvGrpSpPr>
      <p:grpSpPr/>
      <p:sp>
        <p:nvSpPr>
          <p:cNvPr id="2" name="Title"/>
          <p:cNvSpPr txBox="1"/>
          <p:nvPr/>
        </p:nvSpPr>
        <p:spPr>
          <a:xfrm>
            <a:off x="548640" y="411480"/>
            <a:ext cx="11094415" cy="731520"/>
          </a:xfrm>
          <a:prstGeom prst="rect">
            <a:avLst/>
          </a:prstGeom>
          <a:noFill/>
        </p:spPr>
        <p:txBody>
          <a:bodyPr wrap="square" anchor="t" lIns="0" rIns="0" tIns="0" bIns="0">
            <a:spAutoFit/>
          </a:bodyPr>
          <a:lstStyle/>
          <a:p>
            <a:pPr algn="l"/>
            <a:r>
              <a:rPr sz="3400" b="1" i="0">
                <a:solidFill>
                  <a:srgbClr val="1B1F24"/>
                </a:solidFill>
                <a:latin typeface="Calibri"/>
              </a:rPr>
              <a:t>Blockages slide along the pump curve; lost flow falls below it</a:t>
            </a:r>
          </a:p>
        </p:txBody>
      </p:sp>
      <p:pic>
        <p:nvPicPr>
          <p:cNvPr id="3" name="Picture 2" descr="03_degradation_paths.png"/>
          <p:cNvPicPr>
            <a:picLocks noChangeAspect="1"/>
          </p:cNvPicPr>
          <p:nvPr/>
        </p:nvPicPr>
        <p:blipFill>
          <a:blip r:embed="rId2"/>
          <a:stretch>
            <a:fillRect/>
          </a:stretch>
        </p:blipFill>
        <p:spPr>
          <a:xfrm>
            <a:off x="548640" y="1511900"/>
            <a:ext cx="7589520" cy="4474279"/>
          </a:xfrm>
          <a:prstGeom prst="rect">
            <a:avLst/>
          </a:prstGeom>
        </p:spPr>
      </p:pic>
      <p:sp>
        <p:nvSpPr>
          <p:cNvPr id="4" name="TextBox 3"/>
          <p:cNvSpPr txBox="1"/>
          <p:nvPr/>
        </p:nvSpPr>
        <p:spPr>
          <a:xfrm>
            <a:off x="8412480" y="1554480"/>
            <a:ext cx="3291840" cy="4572000"/>
          </a:xfrm>
          <a:prstGeom prst="rect">
            <a:avLst/>
          </a:prstGeom>
          <a:noFill/>
        </p:spPr>
        <p:txBody>
          <a:bodyPr wrap="square" lIns="0" rIns="0" tIns="0" bIns="0">
            <a:spAutoFit/>
          </a:bodyPr>
          <a:lstStyle/>
          <a:p>
            <a:pPr>
              <a:spcAft>
                <a:spcPts val="1400"/>
              </a:spcAft>
            </a:pPr>
            <a:r>
              <a:rPr sz="1200">
                <a:solidFill>
                  <a:srgbClr val="E8A33D"/>
                </a:solidFill>
                <a:latin typeface="Calibri"/>
              </a:rPr>
              <a:t>●  </a:t>
            </a:r>
            <a:r>
              <a:rPr sz="1600" b="1">
                <a:solidFill>
                  <a:srgbClr val="1B1F24"/>
                </a:solidFill>
                <a:latin typeface="Calibri"/>
              </a:rPr>
              <a:t>Filter, valve, nozzle: </a:t>
            </a:r>
            <a:r>
              <a:rPr sz="1600" b="0">
                <a:solidFill>
                  <a:srgbClr val="1B1F24"/>
                </a:solidFill>
                <a:latin typeface="Calibri"/>
              </a:rPr>
              <a:t>higher pressure, lower flow, on the pump's own curve.</a:t>
            </a:r>
          </a:p>
          <a:p>
            <a:pPr>
              <a:spcAft>
                <a:spcPts val="1400"/>
              </a:spcAft>
            </a:pPr>
            <a:r>
              <a:rPr sz="1200">
                <a:solidFill>
                  <a:srgbClr val="E8A33D"/>
                </a:solidFill>
                <a:latin typeface="Calibri"/>
              </a:rPr>
              <a:t>●  </a:t>
            </a:r>
            <a:r>
              <a:rPr sz="1600" b="1">
                <a:solidFill>
                  <a:srgbClr val="1B1F24"/>
                </a:solidFill>
                <a:latin typeface="Calibri"/>
              </a:rPr>
              <a:t>Pump bypass and leak: </a:t>
            </a:r>
            <a:r>
              <a:rPr sz="1600" b="0">
                <a:solidFill>
                  <a:srgbClr val="1B1F24"/>
                </a:solidFill>
                <a:latin typeface="Calibri"/>
              </a:rPr>
              <a:t>lower pressure and lower flow: part of the flow never arrives.</a:t>
            </a:r>
          </a:p>
          <a:p>
            <a:pPr>
              <a:spcAft>
                <a:spcPts val="1400"/>
              </a:spcAft>
            </a:pPr>
            <a:r>
              <a:rPr sz="1200">
                <a:solidFill>
                  <a:srgbClr val="E8A33D"/>
                </a:solidFill>
                <a:latin typeface="Calibri"/>
              </a:rPr>
              <a:t>●  </a:t>
            </a:r>
            <a:r>
              <a:rPr sz="1600" b="1">
                <a:solidFill>
                  <a:srgbClr val="1B1F24"/>
                </a:solidFill>
                <a:latin typeface="Calibri"/>
              </a:rPr>
              <a:t>The 2014 pump curve </a:t>
            </a:r>
            <a:r>
              <a:rPr sz="1600" b="0">
                <a:solidFill>
                  <a:srgbClr val="1B1F24"/>
                </a:solidFill>
                <a:latin typeface="Calibri"/>
              </a:rPr>
              <a:t>is steeper than in 2021-23, so a pump model must be recalibrated on the asset it monitors.</a:t>
            </a:r>
          </a:p>
        </p:txBody>
      </p:sp>
      <p:sp>
        <p:nvSpPr>
          <p:cNvPr id="5" name="TextBox 4"/>
          <p:cNvSpPr txBox="1"/>
          <p:nvPr/>
        </p:nvSpPr>
        <p:spPr>
          <a:xfrm>
            <a:off x="10728655" y="6446520"/>
            <a:ext cx="914400" cy="274320"/>
          </a:xfrm>
          <a:prstGeom prst="rect">
            <a:avLst/>
          </a:prstGeom>
          <a:noFill/>
        </p:spPr>
        <p:txBody>
          <a:bodyPr wrap="square" anchor="t" lIns="0" rIns="0" tIns="0" bIns="0">
            <a:spAutoFit/>
          </a:bodyPr>
          <a:lstStyle/>
          <a:p>
            <a:pPr algn="r"/>
            <a:r>
              <a:rPr sz="1100" b="0" i="0">
                <a:solidFill>
                  <a:srgbClr val="9AA3AD"/>
                </a:solidFill>
                <a:latin typeface="Calibri"/>
              </a:rPr>
              <a:t>7</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FCFCFB"/>
        </a:solidFill>
        <a:effectLst/>
      </p:bgPr>
    </p:bg>
    <p:spTree>
      <p:nvGrpSpPr>
        <p:cNvPr id="1" name=""/>
        <p:cNvGrpSpPr/>
        <p:nvPr/>
      </p:nvGrpSpPr>
      <p:grpSpPr/>
      <p:sp>
        <p:nvSpPr>
          <p:cNvPr id="2" name="Title"/>
          <p:cNvSpPr txBox="1"/>
          <p:nvPr/>
        </p:nvSpPr>
        <p:spPr>
          <a:xfrm>
            <a:off x="548640" y="411480"/>
            <a:ext cx="11094415" cy="731520"/>
          </a:xfrm>
          <a:prstGeom prst="rect">
            <a:avLst/>
          </a:prstGeom>
          <a:noFill/>
        </p:spPr>
        <p:txBody>
          <a:bodyPr wrap="square" anchor="t" lIns="0" rIns="0" tIns="0" bIns="0">
            <a:spAutoFit/>
          </a:bodyPr>
          <a:lstStyle/>
          <a:p>
            <a:pPr algn="l"/>
            <a:r>
              <a:rPr sz="3400" b="1" i="0">
                <a:solidFill>
                  <a:srgbClr val="1B1F24"/>
                </a:solidFill>
                <a:latin typeface="Calibri"/>
              </a:rPr>
              <a:t>Fault diagnosis: the split matters more than the model</a:t>
            </a:r>
          </a:p>
        </p:txBody>
      </p:sp>
      <p:sp>
        <p:nvSpPr>
          <p:cNvPr id="3" name="Subtitle"/>
          <p:cNvSpPr txBox="1"/>
          <p:nvPr/>
        </p:nvSpPr>
        <p:spPr>
          <a:xfrm>
            <a:off x="548640" y="1097280"/>
            <a:ext cx="11094415" cy="411480"/>
          </a:xfrm>
          <a:prstGeom prst="rect">
            <a:avLst/>
          </a:prstGeom>
          <a:noFill/>
        </p:spPr>
        <p:txBody>
          <a:bodyPr wrap="square" anchor="t" lIns="0" rIns="0" tIns="0" bIns="0">
            <a:spAutoFit/>
          </a:bodyPr>
          <a:lstStyle/>
          <a:p>
            <a:pPr algn="l"/>
            <a:r>
              <a:rPr sz="1600" b="0" i="0">
                <a:solidFill>
                  <a:srgbClr val="5F6670"/>
                </a:solidFill>
                <a:latin typeface="Calibri"/>
              </a:rPr>
              <a:t>Macro F1 on 1 s windows. Grey: leave one recording out. Amber: train on severe faults, test on mild ones</a:t>
            </a:r>
          </a:p>
        </p:txBody>
      </p:sp>
      <p:graphicFrame>
        <p:nvGraphicFramePr>
          <p:cNvPr id="4" name="Chart 3"/>
          <p:cNvGraphicFramePr>
            <a:graphicFrameLocks noGrp="1"/>
          </p:cNvGraphicFramePr>
          <p:nvPr/>
        </p:nvGraphicFramePr>
        <p:xfrm>
          <a:off x="548640" y="1645920"/>
          <a:ext cx="7498079" cy="4754880"/>
        </p:xfrm>
        <a:graphic>
          <a:graphicData uri="http://schemas.openxmlformats.org/drawingml/2006/chart">
            <c:chart xmlns:c="http://schemas.openxmlformats.org/drawingml/2006/chart" r:id="rId2"/>
          </a:graphicData>
        </a:graphic>
      </p:graphicFrame>
      <p:sp>
        <p:nvSpPr>
          <p:cNvPr id="5" name="TextBox 4"/>
          <p:cNvSpPr txBox="1"/>
          <p:nvPr/>
        </p:nvSpPr>
        <p:spPr>
          <a:xfrm>
            <a:off x="8412480" y="1737360"/>
            <a:ext cx="3291840" cy="4572000"/>
          </a:xfrm>
          <a:prstGeom prst="rect">
            <a:avLst/>
          </a:prstGeom>
          <a:noFill/>
        </p:spPr>
        <p:txBody>
          <a:bodyPr wrap="square" lIns="0" rIns="0" tIns="0" bIns="0">
            <a:spAutoFit/>
          </a:bodyPr>
          <a:lstStyle/>
          <a:p>
            <a:pPr>
              <a:spcAft>
                <a:spcPts val="1400"/>
              </a:spcAft>
            </a:pPr>
            <a:r>
              <a:rPr sz="1100">
                <a:solidFill>
                  <a:srgbClr val="E8A33D"/>
                </a:solidFill>
                <a:latin typeface="Calibri"/>
              </a:rPr>
              <a:t>●  </a:t>
            </a:r>
            <a:r>
              <a:rPr sz="1500" b="1">
                <a:solidFill>
                  <a:srgbClr val="1B1F24"/>
                </a:solidFill>
                <a:latin typeface="Calibri"/>
              </a:rPr>
              <a:t>Shuffled splits score 1.00 </a:t>
            </a:r>
            <a:r>
              <a:rPr sz="1500" b="0">
                <a:solidFill>
                  <a:srgbClr val="1B1F24"/>
                </a:solidFill>
                <a:latin typeface="Calibri"/>
              </a:rPr>
              <a:t>for every tree model: windows of one recording are near copies.</a:t>
            </a:r>
          </a:p>
          <a:p>
            <a:pPr>
              <a:spcAft>
                <a:spcPts val="1400"/>
              </a:spcAft>
            </a:pPr>
            <a:r>
              <a:rPr sz="1100">
                <a:solidFill>
                  <a:srgbClr val="E8A33D"/>
                </a:solidFill>
                <a:latin typeface="Calibri"/>
              </a:rPr>
              <a:t>●  </a:t>
            </a:r>
            <a:r>
              <a:rPr sz="1500" b="1">
                <a:solidFill>
                  <a:srgbClr val="1B1F24"/>
                </a:solidFill>
                <a:latin typeface="Calibri"/>
              </a:rPr>
              <a:t>Standard classifiers collapse </a:t>
            </a:r>
            <a:r>
              <a:rPr sz="1500" b="0">
                <a:solidFill>
                  <a:srgbClr val="1B1F24"/>
                </a:solidFill>
                <a:latin typeface="Calibri"/>
              </a:rPr>
              <a:t>on mild faults: they learn distance from healthy, not direction.</a:t>
            </a:r>
          </a:p>
          <a:p>
            <a:pPr>
              <a:spcAft>
                <a:spcPts val="1400"/>
              </a:spcAft>
            </a:pPr>
            <a:r>
              <a:rPr sz="1100">
                <a:solidFill>
                  <a:srgbClr val="E8A33D"/>
                </a:solidFill>
                <a:latin typeface="Calibri"/>
              </a:rPr>
              <a:t>●  </a:t>
            </a:r>
            <a:r>
              <a:rPr sz="1500" b="1">
                <a:solidFill>
                  <a:srgbClr val="1B1F24"/>
                </a:solidFill>
                <a:latin typeface="Calibri"/>
              </a:rPr>
              <a:t>Physics rules hold up </a:t>
            </a:r>
            <a:r>
              <a:rPr sz="1500" b="0">
                <a:solidFill>
                  <a:srgbClr val="1B1F24"/>
                </a:solidFill>
                <a:latin typeface="Calibri"/>
              </a:rPr>
              <a:t>with no clock and no data from the fault: the cleanest evidence.</a:t>
            </a:r>
          </a:p>
        </p:txBody>
      </p:sp>
      <p:sp>
        <p:nvSpPr>
          <p:cNvPr id="6" name="TextBox 5"/>
          <p:cNvSpPr txBox="1"/>
          <p:nvPr/>
        </p:nvSpPr>
        <p:spPr>
          <a:xfrm>
            <a:off x="10728655" y="6446520"/>
            <a:ext cx="914400" cy="274320"/>
          </a:xfrm>
          <a:prstGeom prst="rect">
            <a:avLst/>
          </a:prstGeom>
          <a:noFill/>
        </p:spPr>
        <p:txBody>
          <a:bodyPr wrap="square" anchor="t" lIns="0" rIns="0" tIns="0" bIns="0">
            <a:spAutoFit/>
          </a:bodyPr>
          <a:lstStyle/>
          <a:p>
            <a:pPr algn="r"/>
            <a:r>
              <a:rPr sz="1100" b="0" i="0">
                <a:solidFill>
                  <a:srgbClr val="9AA3AD"/>
                </a:solidFill>
                <a:latin typeface="Calibri"/>
              </a:rPr>
              <a:t>8</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FCFCFB"/>
        </a:solidFill>
        <a:effectLst/>
      </p:bgPr>
    </p:bg>
    <p:spTree>
      <p:nvGrpSpPr>
        <p:cNvPr id="1" name=""/>
        <p:cNvGrpSpPr/>
        <p:nvPr/>
      </p:nvGrpSpPr>
      <p:grpSpPr/>
      <p:sp>
        <p:nvSpPr>
          <p:cNvPr id="2" name="Title"/>
          <p:cNvSpPr txBox="1"/>
          <p:nvPr/>
        </p:nvSpPr>
        <p:spPr>
          <a:xfrm>
            <a:off x="548640" y="411480"/>
            <a:ext cx="11094415" cy="731520"/>
          </a:xfrm>
          <a:prstGeom prst="rect">
            <a:avLst/>
          </a:prstGeom>
          <a:noFill/>
        </p:spPr>
        <p:txBody>
          <a:bodyPr wrap="square" anchor="t" lIns="0" rIns="0" tIns="0" bIns="0">
            <a:spAutoFit/>
          </a:bodyPr>
          <a:lstStyle/>
          <a:p>
            <a:pPr algn="l"/>
            <a:r>
              <a:rPr sz="3400" b="1" i="0">
                <a:solidFill>
                  <a:srgbClr val="1B1F24"/>
                </a:solidFill>
                <a:latin typeface="Calibri"/>
              </a:rPr>
              <a:t>Simulated faults can stand in for real fault data</a:t>
            </a:r>
          </a:p>
        </p:txBody>
      </p:sp>
      <p:sp>
        <p:nvSpPr>
          <p:cNvPr id="3" name="Subtitle"/>
          <p:cNvSpPr txBox="1"/>
          <p:nvPr/>
        </p:nvSpPr>
        <p:spPr>
          <a:xfrm>
            <a:off x="548640" y="1097280"/>
            <a:ext cx="11094415" cy="411480"/>
          </a:xfrm>
          <a:prstGeom prst="rect">
            <a:avLst/>
          </a:prstGeom>
          <a:noFill/>
        </p:spPr>
        <p:txBody>
          <a:bodyPr wrap="square" anchor="t" lIns="0" rIns="0" tIns="0" bIns="0">
            <a:spAutoFit/>
          </a:bodyPr>
          <a:lstStyle/>
          <a:p>
            <a:pPr algn="l"/>
            <a:r>
              <a:rPr sz="1600" b="0" i="0">
                <a:solidFill>
                  <a:srgbClr val="5F6670"/>
                </a:solidFill>
                <a:latin typeface="Calibri"/>
              </a:rPr>
              <a:t>A classifier trained only on faults generated by a calibrated model of the rig, tested on the real recordings</a:t>
            </a:r>
          </a:p>
        </p:txBody>
      </p:sp>
      <p:sp>
        <p:nvSpPr>
          <p:cNvPr id="4" name="Rounded Rectangle 3"/>
          <p:cNvSpPr/>
          <p:nvPr/>
        </p:nvSpPr>
        <p:spPr>
          <a:xfrm>
            <a:off x="548640" y="1691640"/>
            <a:ext cx="3383280" cy="1463040"/>
          </a:xfrm>
          <a:prstGeom prst="roundRect">
            <a:avLst>
              <a:gd name="adj" fmla="val 8000"/>
            </a:avLst>
          </a:prstGeom>
          <a:solidFill>
            <a:srgbClr val="EEF1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777240" y="1856232"/>
            <a:ext cx="2926080" cy="685800"/>
          </a:xfrm>
          <a:prstGeom prst="rect">
            <a:avLst/>
          </a:prstGeom>
          <a:noFill/>
        </p:spPr>
        <p:txBody>
          <a:bodyPr wrap="square" anchor="t" lIns="0" rIns="0" tIns="0" bIns="0">
            <a:spAutoFit/>
          </a:bodyPr>
          <a:lstStyle/>
          <a:p>
            <a:pPr algn="l"/>
            <a:r>
              <a:rPr sz="4600" b="1" i="0">
                <a:solidFill>
                  <a:srgbClr val="13233F"/>
                </a:solidFill>
                <a:latin typeface="Calibri"/>
              </a:rPr>
              <a:t>0.87</a:t>
            </a:r>
          </a:p>
        </p:txBody>
      </p:sp>
      <p:sp>
        <p:nvSpPr>
          <p:cNvPr id="6" name="TextBox 5"/>
          <p:cNvSpPr txBox="1"/>
          <p:nvPr/>
        </p:nvSpPr>
        <p:spPr>
          <a:xfrm>
            <a:off x="777240" y="2532888"/>
            <a:ext cx="2926080" cy="548640"/>
          </a:xfrm>
          <a:prstGeom prst="rect">
            <a:avLst/>
          </a:prstGeom>
          <a:noFill/>
        </p:spPr>
        <p:txBody>
          <a:bodyPr wrap="square" anchor="t" lIns="0" rIns="0" tIns="0" bIns="0">
            <a:spAutoFit/>
          </a:bodyPr>
          <a:lstStyle/>
          <a:p>
            <a:pPr algn="l"/>
            <a:r>
              <a:rPr sz="1300" b="0" i="0">
                <a:solidFill>
                  <a:srgbClr val="5F6670"/>
                </a:solidFill>
                <a:latin typeface="Calibri"/>
              </a:rPr>
              <a:t>macro F1 on real data (+/- 0.03 over five seeds)</a:t>
            </a:r>
          </a:p>
        </p:txBody>
      </p:sp>
      <p:sp>
        <p:nvSpPr>
          <p:cNvPr id="7" name="Rounded Rectangle 6"/>
          <p:cNvSpPr/>
          <p:nvPr/>
        </p:nvSpPr>
        <p:spPr>
          <a:xfrm>
            <a:off x="548640" y="3291840"/>
            <a:ext cx="3383280" cy="1463040"/>
          </a:xfrm>
          <a:prstGeom prst="roundRect">
            <a:avLst>
              <a:gd name="adj" fmla="val 8000"/>
            </a:avLst>
          </a:prstGeom>
          <a:solidFill>
            <a:srgbClr val="EEF1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3456432"/>
            <a:ext cx="2926080" cy="685800"/>
          </a:xfrm>
          <a:prstGeom prst="rect">
            <a:avLst/>
          </a:prstGeom>
          <a:noFill/>
        </p:spPr>
        <p:txBody>
          <a:bodyPr wrap="square" anchor="t" lIns="0" rIns="0" tIns="0" bIns="0">
            <a:spAutoFit/>
          </a:bodyPr>
          <a:lstStyle/>
          <a:p>
            <a:pPr algn="l"/>
            <a:r>
              <a:rPr sz="3400" b="1" i="0">
                <a:solidFill>
                  <a:srgbClr val="13233F"/>
                </a:solidFill>
                <a:latin typeface="Calibri"/>
              </a:rPr>
              <a:t>40-42 / 47</a:t>
            </a:r>
          </a:p>
        </p:txBody>
      </p:sp>
      <p:sp>
        <p:nvSpPr>
          <p:cNvPr id="9" name="TextBox 8"/>
          <p:cNvSpPr txBox="1"/>
          <p:nvPr/>
        </p:nvSpPr>
        <p:spPr>
          <a:xfrm>
            <a:off x="777240" y="4133088"/>
            <a:ext cx="2926080" cy="548640"/>
          </a:xfrm>
          <a:prstGeom prst="rect">
            <a:avLst/>
          </a:prstGeom>
          <a:noFill/>
        </p:spPr>
        <p:txBody>
          <a:bodyPr wrap="square" anchor="t" lIns="0" rIns="0" tIns="0" bIns="0">
            <a:spAutoFit/>
          </a:bodyPr>
          <a:lstStyle/>
          <a:p>
            <a:pPr algn="l"/>
            <a:r>
              <a:rPr sz="1300" b="0" i="0">
                <a:solidFill>
                  <a:srgbClr val="5F6670"/>
                </a:solidFill>
                <a:latin typeface="Calibri"/>
              </a:rPr>
              <a:t>real recordings named correctly</a:t>
            </a:r>
          </a:p>
        </p:txBody>
      </p:sp>
      <p:sp>
        <p:nvSpPr>
          <p:cNvPr id="10" name="Rounded Rectangle 9"/>
          <p:cNvSpPr/>
          <p:nvPr/>
        </p:nvSpPr>
        <p:spPr>
          <a:xfrm>
            <a:off x="548640" y="4892040"/>
            <a:ext cx="3383280" cy="1325880"/>
          </a:xfrm>
          <a:prstGeom prst="roundRect">
            <a:avLst>
              <a:gd name="adj" fmla="val 8000"/>
            </a:avLst>
          </a:prstGeom>
          <a:solidFill>
            <a:srgbClr val="EEF1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777240" y="5056631"/>
            <a:ext cx="2926080" cy="685800"/>
          </a:xfrm>
          <a:prstGeom prst="rect">
            <a:avLst/>
          </a:prstGeom>
          <a:noFill/>
        </p:spPr>
        <p:txBody>
          <a:bodyPr wrap="square" anchor="t" lIns="0" rIns="0" tIns="0" bIns="0">
            <a:spAutoFit/>
          </a:bodyPr>
          <a:lstStyle/>
          <a:p>
            <a:pPr algn="l"/>
            <a:r>
              <a:rPr sz="4000" b="1" i="0">
                <a:solidFill>
                  <a:srgbClr val="13233F"/>
                </a:solidFill>
                <a:latin typeface="Calibri"/>
              </a:rPr>
              <a:t>0</a:t>
            </a:r>
          </a:p>
        </p:txBody>
      </p:sp>
      <p:sp>
        <p:nvSpPr>
          <p:cNvPr id="12" name="TextBox 11"/>
          <p:cNvSpPr txBox="1"/>
          <p:nvPr/>
        </p:nvSpPr>
        <p:spPr>
          <a:xfrm>
            <a:off x="777240" y="5733288"/>
            <a:ext cx="2926080" cy="411479"/>
          </a:xfrm>
          <a:prstGeom prst="rect">
            <a:avLst/>
          </a:prstGeom>
          <a:noFill/>
        </p:spPr>
        <p:txBody>
          <a:bodyPr wrap="square" anchor="t" lIns="0" rIns="0" tIns="0" bIns="0">
            <a:spAutoFit/>
          </a:bodyPr>
          <a:lstStyle/>
          <a:p>
            <a:pPr algn="l"/>
            <a:r>
              <a:rPr sz="1300" b="0" i="0">
                <a:solidFill>
                  <a:srgbClr val="5F6670"/>
                </a:solidFill>
                <a:latin typeface="Calibri"/>
              </a:rPr>
              <a:t>real fault labels used in training</a:t>
            </a:r>
          </a:p>
        </p:txBody>
      </p:sp>
      <p:pic>
        <p:nvPicPr>
          <p:cNvPr id="13" name="Picture 12" descr="06_sim_to_real_confusion.png"/>
          <p:cNvPicPr>
            <a:picLocks noChangeAspect="1"/>
          </p:cNvPicPr>
          <p:nvPr/>
        </p:nvPicPr>
        <p:blipFill>
          <a:blip r:embed="rId2"/>
          <a:stretch>
            <a:fillRect/>
          </a:stretch>
        </p:blipFill>
        <p:spPr>
          <a:xfrm>
            <a:off x="4297680" y="1880828"/>
            <a:ext cx="4206240" cy="4056462"/>
          </a:xfrm>
          <a:prstGeom prst="rect">
            <a:avLst/>
          </a:prstGeom>
        </p:spPr>
      </p:pic>
      <p:sp>
        <p:nvSpPr>
          <p:cNvPr id="14" name="TextBox 13"/>
          <p:cNvSpPr txBox="1"/>
          <p:nvPr/>
        </p:nvSpPr>
        <p:spPr>
          <a:xfrm>
            <a:off x="8778240" y="1783080"/>
            <a:ext cx="2926080" cy="4480560"/>
          </a:xfrm>
          <a:prstGeom prst="rect">
            <a:avLst/>
          </a:prstGeom>
          <a:noFill/>
        </p:spPr>
        <p:txBody>
          <a:bodyPr wrap="square" lIns="0" rIns="0" tIns="0" bIns="0">
            <a:spAutoFit/>
          </a:bodyPr>
          <a:lstStyle/>
          <a:p>
            <a:pPr>
              <a:spcAft>
                <a:spcPts val="1400"/>
              </a:spcAft>
            </a:pPr>
            <a:r>
              <a:rPr sz="1100">
                <a:solidFill>
                  <a:srgbClr val="E8A33D"/>
                </a:solidFill>
                <a:latin typeface="Calibri"/>
              </a:rPr>
              <a:t>●  </a:t>
            </a:r>
            <a:r>
              <a:rPr sz="1500" b="1">
                <a:solidFill>
                  <a:srgbClr val="1B1F24"/>
                </a:solidFill>
                <a:latin typeface="Calibri"/>
              </a:rPr>
              <a:t>Misses are the mildest settings, </a:t>
            </a:r>
            <a:r>
              <a:rPr sz="1500" b="0">
                <a:solidFill>
                  <a:srgbClr val="1B1F24"/>
                </a:solidFill>
                <a:latin typeface="Calibri"/>
              </a:rPr>
              <a:t>called healthy: the safe direction.</a:t>
            </a:r>
          </a:p>
          <a:p>
            <a:pPr>
              <a:spcAft>
                <a:spcPts val="1400"/>
              </a:spcAft>
            </a:pPr>
            <a:r>
              <a:rPr sz="1100">
                <a:solidFill>
                  <a:srgbClr val="E8A33D"/>
                </a:solidFill>
                <a:latin typeface="Calibri"/>
              </a:rPr>
              <a:t>●  </a:t>
            </a:r>
            <a:r>
              <a:rPr sz="1500" b="1">
                <a:solidFill>
                  <a:srgbClr val="1B1F24"/>
                </a:solidFill>
                <a:latin typeface="Calibri"/>
              </a:rPr>
              <a:t>Caveat: </a:t>
            </a:r>
            <a:r>
              <a:rPr sz="1500" b="0">
                <a:solidFill>
                  <a:srgbClr val="1B1F24"/>
                </a:solidFill>
                <a:latin typeface="Calibri"/>
              </a:rPr>
              <a:t>the healthy boundary does not transfer yet (some healthy windows flagged, depending on the seed).</a:t>
            </a:r>
          </a:p>
          <a:p>
            <a:pPr>
              <a:spcAft>
                <a:spcPts val="1400"/>
              </a:spcAft>
            </a:pPr>
            <a:r>
              <a:rPr sz="1100">
                <a:solidFill>
                  <a:srgbClr val="E8A33D"/>
                </a:solidFill>
                <a:latin typeface="Calibri"/>
              </a:rPr>
              <a:t>●  </a:t>
            </a:r>
            <a:r>
              <a:rPr sz="1500" b="1">
                <a:solidFill>
                  <a:srgbClr val="1B1F24"/>
                </a:solidFill>
                <a:latin typeface="Calibri"/>
              </a:rPr>
              <a:t>So it runs as a second opinion, </a:t>
            </a:r>
            <a:r>
              <a:rPr sz="1500" b="0">
                <a:solidFill>
                  <a:srgbClr val="1B1F24"/>
                </a:solidFill>
                <a:latin typeface="Calibri"/>
              </a:rPr>
              <a:t>never raising an alarm on its own.</a:t>
            </a:r>
          </a:p>
        </p:txBody>
      </p:sp>
      <p:sp>
        <p:nvSpPr>
          <p:cNvPr id="15" name="TextBox 14"/>
          <p:cNvSpPr txBox="1"/>
          <p:nvPr/>
        </p:nvSpPr>
        <p:spPr>
          <a:xfrm>
            <a:off x="10728655" y="6446520"/>
            <a:ext cx="914400" cy="274320"/>
          </a:xfrm>
          <a:prstGeom prst="rect">
            <a:avLst/>
          </a:prstGeom>
          <a:noFill/>
        </p:spPr>
        <p:txBody>
          <a:bodyPr wrap="square" anchor="t" lIns="0" rIns="0" tIns="0" bIns="0">
            <a:spAutoFit/>
          </a:bodyPr>
          <a:lstStyle/>
          <a:p>
            <a:pPr algn="r"/>
            <a:r>
              <a:rPr sz="1100" b="0" i="0">
                <a:solidFill>
                  <a:srgbClr val="9AA3AD"/>
                </a:solidFill>
                <a:latin typeface="Calibri"/>
              </a:rPr>
              <a:t>9</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FCFCFB"/>
        </a:solidFill>
        <a:effectLst/>
      </p:bgPr>
    </p:bg>
    <p:spTree>
      <p:nvGrpSpPr>
        <p:cNvPr id="1" name=""/>
        <p:cNvGrpSpPr/>
        <p:nvPr/>
      </p:nvGrpSpPr>
      <p:grpSpPr/>
      <p:sp>
        <p:nvSpPr>
          <p:cNvPr id="2" name="Title"/>
          <p:cNvSpPr txBox="1"/>
          <p:nvPr/>
        </p:nvSpPr>
        <p:spPr>
          <a:xfrm>
            <a:off x="548640" y="411480"/>
            <a:ext cx="11094415" cy="731520"/>
          </a:xfrm>
          <a:prstGeom prst="rect">
            <a:avLst/>
          </a:prstGeom>
          <a:noFill/>
        </p:spPr>
        <p:txBody>
          <a:bodyPr wrap="square" anchor="t" lIns="0" rIns="0" tIns="0" bIns="0">
            <a:spAutoFit/>
          </a:bodyPr>
          <a:lstStyle/>
          <a:p>
            <a:pPr algn="l"/>
            <a:r>
              <a:rPr sz="3400" b="1" i="0">
                <a:solidFill>
                  <a:srgbClr val="1B1F24"/>
                </a:solidFill>
                <a:latin typeface="Calibri"/>
              </a:rPr>
              <a:t>The pump matches its datasheet; a relief valve caps pressure</a:t>
            </a:r>
          </a:p>
        </p:txBody>
      </p:sp>
      <p:pic>
        <p:nvPicPr>
          <p:cNvPr id="3" name="Picture 2" descr="05_pump_curves.png"/>
          <p:cNvPicPr>
            <a:picLocks noChangeAspect="1"/>
          </p:cNvPicPr>
          <p:nvPr/>
        </p:nvPicPr>
        <p:blipFill>
          <a:blip r:embed="rId2"/>
          <a:stretch>
            <a:fillRect/>
          </a:stretch>
        </p:blipFill>
        <p:spPr>
          <a:xfrm>
            <a:off x="548640" y="1325599"/>
            <a:ext cx="7680960" cy="3063801"/>
          </a:xfrm>
          <a:prstGeom prst="rect">
            <a:avLst/>
          </a:prstGeom>
        </p:spPr>
      </p:pic>
      <p:sp>
        <p:nvSpPr>
          <p:cNvPr id="4" name="Rounded Rectangle 3"/>
          <p:cNvSpPr/>
          <p:nvPr/>
        </p:nvSpPr>
        <p:spPr>
          <a:xfrm>
            <a:off x="548640" y="4709160"/>
            <a:ext cx="2468880" cy="1463040"/>
          </a:xfrm>
          <a:prstGeom prst="roundRect">
            <a:avLst>
              <a:gd name="adj" fmla="val 8000"/>
            </a:avLst>
          </a:prstGeom>
          <a:solidFill>
            <a:srgbClr val="EEF1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777240" y="4873752"/>
            <a:ext cx="2011680" cy="685800"/>
          </a:xfrm>
          <a:prstGeom prst="rect">
            <a:avLst/>
          </a:prstGeom>
          <a:noFill/>
        </p:spPr>
        <p:txBody>
          <a:bodyPr wrap="square" anchor="t" lIns="0" rIns="0" tIns="0" bIns="0">
            <a:spAutoFit/>
          </a:bodyPr>
          <a:lstStyle/>
          <a:p>
            <a:pPr algn="l"/>
            <a:r>
              <a:rPr sz="4000" b="1" i="0">
                <a:solidFill>
                  <a:srgbClr val="13233F"/>
                </a:solidFill>
                <a:latin typeface="Calibri"/>
              </a:rPr>
              <a:t>&lt; 2.3 %</a:t>
            </a:r>
          </a:p>
        </p:txBody>
      </p:sp>
      <p:sp>
        <p:nvSpPr>
          <p:cNvPr id="6" name="TextBox 5"/>
          <p:cNvSpPr txBox="1"/>
          <p:nvPr/>
        </p:nvSpPr>
        <p:spPr>
          <a:xfrm>
            <a:off x="777240" y="5550408"/>
            <a:ext cx="2011680" cy="548640"/>
          </a:xfrm>
          <a:prstGeom prst="rect">
            <a:avLst/>
          </a:prstGeom>
          <a:noFill/>
        </p:spPr>
        <p:txBody>
          <a:bodyPr wrap="square" anchor="t" lIns="0" rIns="0" tIns="0" bIns="0">
            <a:spAutoFit/>
          </a:bodyPr>
          <a:lstStyle/>
          <a:p>
            <a:pPr algn="l"/>
            <a:r>
              <a:rPr sz="1300" b="0" i="0">
                <a:solidFill>
                  <a:srgbClr val="5F6670"/>
                </a:solidFill>
                <a:latin typeface="Calibri"/>
              </a:rPr>
              <a:t>from the OEM datasheet at 1140 rpm</a:t>
            </a:r>
          </a:p>
        </p:txBody>
      </p:sp>
      <p:sp>
        <p:nvSpPr>
          <p:cNvPr id="7" name="Rounded Rectangle 6"/>
          <p:cNvSpPr/>
          <p:nvPr/>
        </p:nvSpPr>
        <p:spPr>
          <a:xfrm>
            <a:off x="3154680" y="4709160"/>
            <a:ext cx="2468880" cy="1463040"/>
          </a:xfrm>
          <a:prstGeom prst="roundRect">
            <a:avLst>
              <a:gd name="adj" fmla="val 8000"/>
            </a:avLst>
          </a:prstGeom>
          <a:solidFill>
            <a:srgbClr val="EEF1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3383280" y="4873752"/>
            <a:ext cx="2011680" cy="685800"/>
          </a:xfrm>
          <a:prstGeom prst="rect">
            <a:avLst/>
          </a:prstGeom>
          <a:noFill/>
        </p:spPr>
        <p:txBody>
          <a:bodyPr wrap="square" anchor="t" lIns="0" rIns="0" tIns="0" bIns="0">
            <a:spAutoFit/>
          </a:bodyPr>
          <a:lstStyle/>
          <a:p>
            <a:pPr algn="l"/>
            <a:r>
              <a:rPr sz="4000" b="1" i="0">
                <a:solidFill>
                  <a:srgbClr val="13233F"/>
                </a:solidFill>
                <a:latin typeface="Calibri"/>
              </a:rPr>
              <a:t>3.45 bar</a:t>
            </a:r>
          </a:p>
        </p:txBody>
      </p:sp>
      <p:sp>
        <p:nvSpPr>
          <p:cNvPr id="9" name="TextBox 8"/>
          <p:cNvSpPr txBox="1"/>
          <p:nvPr/>
        </p:nvSpPr>
        <p:spPr>
          <a:xfrm>
            <a:off x="3383280" y="5550408"/>
            <a:ext cx="2011680" cy="548640"/>
          </a:xfrm>
          <a:prstGeom prst="rect">
            <a:avLst/>
          </a:prstGeom>
          <a:noFill/>
        </p:spPr>
        <p:txBody>
          <a:bodyPr wrap="square" anchor="t" lIns="0" rIns="0" tIns="0" bIns="0">
            <a:spAutoFit/>
          </a:bodyPr>
          <a:lstStyle/>
          <a:p>
            <a:pPr algn="l"/>
            <a:r>
              <a:rPr sz="1300" b="0" i="0">
                <a:solidFill>
                  <a:srgbClr val="5F6670"/>
                </a:solidFill>
                <a:latin typeface="Calibri"/>
              </a:rPr>
              <a:t>built-in relief valve: flow collapses past it</a:t>
            </a:r>
          </a:p>
        </p:txBody>
      </p:sp>
      <p:sp>
        <p:nvSpPr>
          <p:cNvPr id="10" name="Rounded Rectangle 9"/>
          <p:cNvSpPr/>
          <p:nvPr/>
        </p:nvSpPr>
        <p:spPr>
          <a:xfrm>
            <a:off x="5760720" y="4709160"/>
            <a:ext cx="2468880" cy="1463040"/>
          </a:xfrm>
          <a:prstGeom prst="roundRect">
            <a:avLst>
              <a:gd name="adj" fmla="val 8000"/>
            </a:avLst>
          </a:prstGeom>
          <a:solidFill>
            <a:srgbClr val="EEF1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5989320" y="4873752"/>
            <a:ext cx="2011680" cy="685800"/>
          </a:xfrm>
          <a:prstGeom prst="rect">
            <a:avLst/>
          </a:prstGeom>
          <a:noFill/>
        </p:spPr>
        <p:txBody>
          <a:bodyPr wrap="square" anchor="t" lIns="0" rIns="0" tIns="0" bIns="0">
            <a:spAutoFit/>
          </a:bodyPr>
          <a:lstStyle/>
          <a:p>
            <a:pPr algn="l"/>
            <a:r>
              <a:rPr sz="4000" b="1" i="0">
                <a:solidFill>
                  <a:srgbClr val="13233F"/>
                </a:solidFill>
                <a:latin typeface="Calibri"/>
              </a:rPr>
              <a:t>~1 %</a:t>
            </a:r>
          </a:p>
        </p:txBody>
      </p:sp>
      <p:sp>
        <p:nvSpPr>
          <p:cNvPr id="12" name="TextBox 11"/>
          <p:cNvSpPr txBox="1"/>
          <p:nvPr/>
        </p:nvSpPr>
        <p:spPr>
          <a:xfrm>
            <a:off x="5989320" y="5550408"/>
            <a:ext cx="2011680" cy="548640"/>
          </a:xfrm>
          <a:prstGeom prst="rect">
            <a:avLst/>
          </a:prstGeom>
          <a:noFill/>
        </p:spPr>
        <p:txBody>
          <a:bodyPr wrap="square" anchor="t" lIns="0" rIns="0" tIns="0" bIns="0">
            <a:spAutoFit/>
          </a:bodyPr>
          <a:lstStyle/>
          <a:p>
            <a:pPr algn="l"/>
            <a:r>
              <a:rPr sz="1300" b="0" i="0">
                <a:solidFill>
                  <a:srgbClr val="5F6670"/>
                </a:solidFill>
                <a:latin typeface="Calibri"/>
              </a:rPr>
              <a:t>physics model error on an unseen speed</a:t>
            </a:r>
          </a:p>
        </p:txBody>
      </p:sp>
      <p:sp>
        <p:nvSpPr>
          <p:cNvPr id="13" name="TextBox 12"/>
          <p:cNvSpPr txBox="1"/>
          <p:nvPr/>
        </p:nvSpPr>
        <p:spPr>
          <a:xfrm>
            <a:off x="8503920" y="1463040"/>
            <a:ext cx="3200400" cy="4754880"/>
          </a:xfrm>
          <a:prstGeom prst="rect">
            <a:avLst/>
          </a:prstGeom>
          <a:noFill/>
        </p:spPr>
        <p:txBody>
          <a:bodyPr wrap="square" lIns="0" rIns="0" tIns="0" bIns="0">
            <a:spAutoFit/>
          </a:bodyPr>
          <a:lstStyle/>
          <a:p>
            <a:pPr>
              <a:spcAft>
                <a:spcPts val="1200"/>
              </a:spcAft>
            </a:pPr>
            <a:r>
              <a:rPr sz="1100">
                <a:solidFill>
                  <a:srgbClr val="E8A33D"/>
                </a:solidFill>
                <a:latin typeface="Calibri"/>
              </a:rPr>
              <a:t>●  </a:t>
            </a:r>
            <a:r>
              <a:rPr sz="1500" b="1">
                <a:solidFill>
                  <a:srgbClr val="1B1F24"/>
                </a:solidFill>
                <a:latin typeface="Calibri"/>
              </a:rPr>
              <a:t>2021 tests </a:t>
            </a:r>
            <a:r>
              <a:rPr sz="1500" b="0">
                <a:solidFill>
                  <a:srgbClr val="1B1F24"/>
                </a:solidFill>
                <a:latin typeface="Calibri"/>
              </a:rPr>
              <a:t>closed the valves to 10 % open and pushed past the relief valve; 2023 tests stopped at 25-35 %.</a:t>
            </a:r>
          </a:p>
          <a:p>
            <a:pPr>
              <a:spcAft>
                <a:spcPts val="1200"/>
              </a:spcAft>
            </a:pPr>
            <a:r>
              <a:rPr sz="1100">
                <a:solidFill>
                  <a:srgbClr val="E8A33D"/>
                </a:solidFill>
                <a:latin typeface="Calibri"/>
              </a:rPr>
              <a:t>●  </a:t>
            </a:r>
            <a:r>
              <a:rPr sz="1500" b="1">
                <a:solidFill>
                  <a:srgbClr val="1B1F24"/>
                </a:solidFill>
                <a:latin typeface="Calibri"/>
              </a:rPr>
              <a:t>Displacement is constant </a:t>
            </a:r>
            <a:r>
              <a:rPr sz="1500" b="0">
                <a:solidFill>
                  <a:srgbClr val="1B1F24"/>
                </a:solidFill>
                <a:latin typeface="Calibri"/>
              </a:rPr>
              <a:t>(2.1 mL/rev); internal leakage changes from day to day.</a:t>
            </a:r>
          </a:p>
          <a:p>
            <a:pPr>
              <a:spcAft>
                <a:spcPts val="1200"/>
              </a:spcAft>
            </a:pPr>
            <a:r>
              <a:rPr sz="1100">
                <a:solidFill>
                  <a:srgbClr val="E8A33D"/>
                </a:solidFill>
                <a:latin typeface="Calibri"/>
              </a:rPr>
              <a:t>●  </a:t>
            </a:r>
            <a:r>
              <a:rPr sz="1500" b="1">
                <a:solidFill>
                  <a:srgbClr val="1B1F24"/>
                </a:solidFill>
                <a:latin typeface="Calibri"/>
              </a:rPr>
              <a:t>Day-to-day shifts of 3-10 % </a:t>
            </a:r>
            <a:r>
              <a:rPr sz="1500" b="0">
                <a:solidFill>
                  <a:srgbClr val="1B1F24"/>
                </a:solidFill>
                <a:latin typeface="Calibri"/>
              </a:rPr>
              <a:t>dominate real error, so the model keeps displacement fixed and re-estimates leakage.</a:t>
            </a:r>
          </a:p>
          <a:p>
            <a:pPr>
              <a:spcAft>
                <a:spcPts val="1200"/>
              </a:spcAft>
            </a:pPr>
            <a:r>
              <a:rPr sz="1100">
                <a:solidFill>
                  <a:srgbClr val="E8A33D"/>
                </a:solidFill>
                <a:latin typeface="Calibri"/>
              </a:rPr>
              <a:t>●  </a:t>
            </a:r>
            <a:r>
              <a:rPr sz="1500" b="1">
                <a:solidFill>
                  <a:srgbClr val="1B1F24"/>
                </a:solidFill>
                <a:latin typeface="Calibri"/>
              </a:rPr>
              <a:t>Found an error </a:t>
            </a:r>
            <a:r>
              <a:rPr sz="1500" b="0">
                <a:solidFill>
                  <a:srgbClr val="1B1F24"/>
                </a:solidFill>
                <a:latin typeface="Calibri"/>
              </a:rPr>
              <a:t>in the published verification figures: 3.6 %, not under 1.5 %.</a:t>
            </a:r>
          </a:p>
        </p:txBody>
      </p:sp>
      <p:sp>
        <p:nvSpPr>
          <p:cNvPr id="14" name="TextBox 13"/>
          <p:cNvSpPr txBox="1"/>
          <p:nvPr/>
        </p:nvSpPr>
        <p:spPr>
          <a:xfrm>
            <a:off x="10728655" y="6446520"/>
            <a:ext cx="914400" cy="274320"/>
          </a:xfrm>
          <a:prstGeom prst="rect">
            <a:avLst/>
          </a:prstGeom>
          <a:noFill/>
        </p:spPr>
        <p:txBody>
          <a:bodyPr wrap="square" anchor="t" lIns="0" rIns="0" tIns="0" bIns="0">
            <a:spAutoFit/>
          </a:bodyPr>
          <a:lstStyle/>
          <a:p>
            <a:pPr algn="r"/>
            <a:r>
              <a:rPr sz="1100" b="0" i="0">
                <a:solidFill>
                  <a:srgbClr val="9AA3AD"/>
                </a:solidFill>
                <a:latin typeface="Calibri"/>
              </a:rPr>
              <a:t>10</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FCFCFB"/>
        </a:solidFill>
        <a:effectLst/>
      </p:bgPr>
    </p:bg>
    <p:spTree>
      <p:nvGrpSpPr>
        <p:cNvPr id="1" name=""/>
        <p:cNvGrpSpPr/>
        <p:nvPr/>
      </p:nvGrpSpPr>
      <p:grpSpPr/>
      <p:sp>
        <p:nvSpPr>
          <p:cNvPr id="2" name="Title"/>
          <p:cNvSpPr txBox="1"/>
          <p:nvPr/>
        </p:nvSpPr>
        <p:spPr>
          <a:xfrm>
            <a:off x="548640" y="411480"/>
            <a:ext cx="11094415" cy="731520"/>
          </a:xfrm>
          <a:prstGeom prst="rect">
            <a:avLst/>
          </a:prstGeom>
          <a:noFill/>
        </p:spPr>
        <p:txBody>
          <a:bodyPr wrap="square" anchor="t" lIns="0" rIns="0" tIns="0" bIns="0">
            <a:spAutoFit/>
          </a:bodyPr>
          <a:lstStyle/>
          <a:p>
            <a:pPr algn="l"/>
            <a:r>
              <a:rPr sz="3400" b="1" i="0">
                <a:solidFill>
                  <a:srgbClr val="1B1F24"/>
                </a:solidFill>
                <a:latin typeface="Calibri"/>
              </a:rPr>
              <a:t>Regression: test on what the model has not seen</a:t>
            </a:r>
          </a:p>
        </p:txBody>
      </p:sp>
      <p:sp>
        <p:nvSpPr>
          <p:cNvPr id="3" name="Subtitle"/>
          <p:cNvSpPr txBox="1"/>
          <p:nvPr/>
        </p:nvSpPr>
        <p:spPr>
          <a:xfrm>
            <a:off x="548640" y="1097280"/>
            <a:ext cx="11094415" cy="411480"/>
          </a:xfrm>
          <a:prstGeom prst="rect">
            <a:avLst/>
          </a:prstGeom>
          <a:noFill/>
        </p:spPr>
        <p:txBody>
          <a:bodyPr wrap="square" anchor="t" lIns="0" rIns="0" tIns="0" bIns="0">
            <a:spAutoFit/>
          </a:bodyPr>
          <a:lstStyle/>
          <a:p>
            <a:pPr algn="l"/>
            <a:r>
              <a:rPr sz="1600" b="0" i="0">
                <a:solidFill>
                  <a:srgbClr val="5F6670"/>
                </a:solidFill>
                <a:latin typeface="Calibri"/>
              </a:rPr>
              <a:t>Pump flow from speed and pressure; error when a whole pump speed is held out (L/min, lower is better)</a:t>
            </a:r>
          </a:p>
        </p:txBody>
      </p:sp>
      <p:graphicFrame>
        <p:nvGraphicFramePr>
          <p:cNvPr id="4" name="Chart 3"/>
          <p:cNvGraphicFramePr>
            <a:graphicFrameLocks noGrp="1"/>
          </p:cNvGraphicFramePr>
          <p:nvPr/>
        </p:nvGraphicFramePr>
        <p:xfrm>
          <a:off x="548640" y="1645920"/>
          <a:ext cx="6035040" cy="4572000"/>
        </p:xfrm>
        <a:graphic>
          <a:graphicData uri="http://schemas.openxmlformats.org/drawingml/2006/chart">
            <c:chart xmlns:c="http://schemas.openxmlformats.org/drawingml/2006/chart" r:id="rId2"/>
          </a:graphicData>
        </a:graphic>
      </p:graphicFrame>
      <p:pic>
        <p:nvPicPr>
          <p:cNvPr id="5" name="Picture 4" descr="07_regressors_extrapolation.png"/>
          <p:cNvPicPr>
            <a:picLocks noChangeAspect="1"/>
          </p:cNvPicPr>
          <p:nvPr/>
        </p:nvPicPr>
        <p:blipFill>
          <a:blip r:embed="rId3"/>
          <a:stretch>
            <a:fillRect/>
          </a:stretch>
        </p:blipFill>
        <p:spPr>
          <a:xfrm>
            <a:off x="6858000" y="1705915"/>
            <a:ext cx="4800599" cy="2714649"/>
          </a:xfrm>
          <a:prstGeom prst="rect">
            <a:avLst/>
          </a:prstGeom>
        </p:spPr>
      </p:pic>
      <p:sp>
        <p:nvSpPr>
          <p:cNvPr id="6" name="TextBox 5"/>
          <p:cNvSpPr txBox="1"/>
          <p:nvPr/>
        </p:nvSpPr>
        <p:spPr>
          <a:xfrm>
            <a:off x="6858000" y="4572000"/>
            <a:ext cx="4800600" cy="1828800"/>
          </a:xfrm>
          <a:prstGeom prst="rect">
            <a:avLst/>
          </a:prstGeom>
          <a:noFill/>
        </p:spPr>
        <p:txBody>
          <a:bodyPr wrap="square" lIns="0" rIns="0" tIns="0" bIns="0">
            <a:spAutoFit/>
          </a:bodyPr>
          <a:lstStyle/>
          <a:p>
            <a:pPr>
              <a:spcAft>
                <a:spcPts val="800"/>
              </a:spcAft>
            </a:pPr>
            <a:r>
              <a:rPr sz="1000">
                <a:solidFill>
                  <a:srgbClr val="E8A33D"/>
                </a:solidFill>
                <a:latin typeface="Calibri"/>
              </a:rPr>
              <a:t>●  </a:t>
            </a:r>
            <a:r>
              <a:rPr sz="1400" b="1">
                <a:solidFill>
                  <a:srgbClr val="1B1F24"/>
                </a:solidFill>
                <a:latin typeface="Calibri"/>
              </a:rPr>
              <a:t>Trees cannot predict an unseen speed: </a:t>
            </a:r>
            <a:r>
              <a:rPr sz="1400" b="0">
                <a:solidFill>
                  <a:srgbClr val="1B1F24"/>
                </a:solidFill>
                <a:latin typeface="Calibri"/>
              </a:rPr>
              <a:t>they copy the nearest one.</a:t>
            </a:r>
          </a:p>
          <a:p>
            <a:pPr>
              <a:spcAft>
                <a:spcPts val="800"/>
              </a:spcAft>
            </a:pPr>
            <a:r>
              <a:rPr sz="1000">
                <a:solidFill>
                  <a:srgbClr val="E8A33D"/>
                </a:solidFill>
                <a:latin typeface="Calibri"/>
              </a:rPr>
              <a:t>●  </a:t>
            </a:r>
            <a:r>
              <a:rPr sz="1400" b="1">
                <a:solidFill>
                  <a:srgbClr val="1B1F24"/>
                </a:solidFill>
                <a:latin typeface="Calibri"/>
              </a:rPr>
              <a:t>Training R² kept rising with polynomial degree </a:t>
            </a:r>
            <a:r>
              <a:rPr sz="1400" b="0">
                <a:solidFill>
                  <a:srgbClr val="1B1F24"/>
                </a:solidFill>
                <a:latin typeface="Calibri"/>
              </a:rPr>
              <a:t>while accuracy on new conditions fell.</a:t>
            </a:r>
          </a:p>
          <a:p>
            <a:pPr>
              <a:spcAft>
                <a:spcPts val="800"/>
              </a:spcAft>
            </a:pPr>
            <a:r>
              <a:rPr sz="1000">
                <a:solidFill>
                  <a:srgbClr val="E8A33D"/>
                </a:solidFill>
                <a:latin typeface="Calibri"/>
              </a:rPr>
              <a:t>●  </a:t>
            </a:r>
            <a:r>
              <a:rPr sz="1400" b="1">
                <a:solidFill>
                  <a:srgbClr val="1B1F24"/>
                </a:solidFill>
                <a:latin typeface="Calibri"/>
              </a:rPr>
              <a:t>The hybrid adds prediction intervals, </a:t>
            </a:r>
            <a:r>
              <a:rPr sz="1400" b="0">
                <a:solidFill>
                  <a:srgbClr val="1B1F24"/>
                </a:solidFill>
                <a:latin typeface="Calibri"/>
              </a:rPr>
              <a:t>which hold within a test day but not across days.</a:t>
            </a:r>
          </a:p>
        </p:txBody>
      </p:sp>
      <p:sp>
        <p:nvSpPr>
          <p:cNvPr id="7" name="TextBox 6"/>
          <p:cNvSpPr txBox="1"/>
          <p:nvPr/>
        </p:nvSpPr>
        <p:spPr>
          <a:xfrm>
            <a:off x="10728655" y="6446520"/>
            <a:ext cx="914400" cy="274320"/>
          </a:xfrm>
          <a:prstGeom prst="rect">
            <a:avLst/>
          </a:prstGeom>
          <a:noFill/>
        </p:spPr>
        <p:txBody>
          <a:bodyPr wrap="square" anchor="t" lIns="0" rIns="0" tIns="0" bIns="0">
            <a:spAutoFit/>
          </a:bodyPr>
          <a:lstStyle/>
          <a:p>
            <a:pPr algn="r"/>
            <a:r>
              <a:rPr sz="1100" b="0" i="0">
                <a:solidFill>
                  <a:srgbClr val="9AA3AD"/>
                </a:solidFill>
                <a:latin typeface="Calibri"/>
              </a:rPr>
              <a:t>11</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FCFCFB"/>
        </a:solidFill>
        <a:effectLst/>
      </p:bgPr>
    </p:bg>
    <p:spTree>
      <p:nvGrpSpPr>
        <p:cNvPr id="1" name=""/>
        <p:cNvGrpSpPr/>
        <p:nvPr/>
      </p:nvGrpSpPr>
      <p:grpSpPr/>
      <p:sp>
        <p:nvSpPr>
          <p:cNvPr id="2" name="Title"/>
          <p:cNvSpPr txBox="1"/>
          <p:nvPr/>
        </p:nvSpPr>
        <p:spPr>
          <a:xfrm>
            <a:off x="548640" y="411480"/>
            <a:ext cx="11094415" cy="731520"/>
          </a:xfrm>
          <a:prstGeom prst="rect">
            <a:avLst/>
          </a:prstGeom>
          <a:noFill/>
        </p:spPr>
        <p:txBody>
          <a:bodyPr wrap="square" anchor="t" lIns="0" rIns="0" tIns="0" bIns="0">
            <a:spAutoFit/>
          </a:bodyPr>
          <a:lstStyle/>
          <a:p>
            <a:pPr algn="l"/>
            <a:r>
              <a:rPr sz="3400" b="1" i="0">
                <a:solidFill>
                  <a:srgbClr val="1B1F24"/>
                </a:solidFill>
                <a:latin typeface="Calibri"/>
              </a:rPr>
              <a:t>Live monitoring: catch the change, not the anomaly</a:t>
            </a:r>
          </a:p>
        </p:txBody>
      </p:sp>
      <p:sp>
        <p:nvSpPr>
          <p:cNvPr id="3" name="Subtitle"/>
          <p:cNvSpPr txBox="1"/>
          <p:nvPr/>
        </p:nvSpPr>
        <p:spPr>
          <a:xfrm>
            <a:off x="548640" y="1097280"/>
            <a:ext cx="11094415" cy="411480"/>
          </a:xfrm>
          <a:prstGeom prst="rect">
            <a:avLst/>
          </a:prstGeom>
          <a:noFill/>
        </p:spPr>
        <p:txBody>
          <a:bodyPr wrap="square" anchor="t" lIns="0" rIns="0" tIns="0" bIns="0">
            <a:spAutoFit/>
          </a:bodyPr>
          <a:lstStyle/>
          <a:p>
            <a:pPr algn="l"/>
            <a:r>
              <a:rPr sz="1600" b="0" i="0">
                <a:solidFill>
                  <a:srgbClr val="5F6670"/>
                </a:solidFill>
                <a:latin typeface="Calibri"/>
              </a:rPr>
              <a:t>Calibrated on healthy data only, then run on streams of real recordings</a:t>
            </a:r>
          </a:p>
        </p:txBody>
      </p:sp>
      <p:pic>
        <p:nvPicPr>
          <p:cNvPr id="4" name="Picture 3" descr="08_change_detection_example.png"/>
          <p:cNvPicPr>
            <a:picLocks noChangeAspect="1"/>
          </p:cNvPicPr>
          <p:nvPr/>
        </p:nvPicPr>
        <p:blipFill>
          <a:blip r:embed="rId2"/>
          <a:stretch>
            <a:fillRect/>
          </a:stretch>
        </p:blipFill>
        <p:spPr>
          <a:xfrm>
            <a:off x="548640" y="1611050"/>
            <a:ext cx="6949439" cy="3132979"/>
          </a:xfrm>
          <a:prstGeom prst="rect">
            <a:avLst/>
          </a:prstGeom>
        </p:spPr>
      </p:pic>
      <p:sp>
        <p:nvSpPr>
          <p:cNvPr id="5" name="Rounded Rectangle 4"/>
          <p:cNvSpPr/>
          <p:nvPr/>
        </p:nvSpPr>
        <p:spPr>
          <a:xfrm>
            <a:off x="7863840" y="1645920"/>
            <a:ext cx="3794760" cy="1417320"/>
          </a:xfrm>
          <a:prstGeom prst="roundRect">
            <a:avLst>
              <a:gd name="adj" fmla="val 8000"/>
            </a:avLst>
          </a:prstGeom>
          <a:solidFill>
            <a:srgbClr val="EEF1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8092440" y="1810512"/>
            <a:ext cx="3337560" cy="685800"/>
          </a:xfrm>
          <a:prstGeom prst="rect">
            <a:avLst/>
          </a:prstGeom>
          <a:noFill/>
        </p:spPr>
        <p:txBody>
          <a:bodyPr wrap="square" anchor="t" lIns="0" rIns="0" tIns="0" bIns="0">
            <a:spAutoFit/>
          </a:bodyPr>
          <a:lstStyle/>
          <a:p>
            <a:pPr algn="l"/>
            <a:r>
              <a:rPr sz="4000" b="1" i="0">
                <a:solidFill>
                  <a:srgbClr val="13233F"/>
                </a:solidFill>
                <a:latin typeface="Calibri"/>
              </a:rPr>
              <a:t>&lt; 1 s</a:t>
            </a:r>
          </a:p>
        </p:txBody>
      </p:sp>
      <p:sp>
        <p:nvSpPr>
          <p:cNvPr id="7" name="TextBox 6"/>
          <p:cNvSpPr txBox="1"/>
          <p:nvPr/>
        </p:nvSpPr>
        <p:spPr>
          <a:xfrm>
            <a:off x="8092440" y="2487168"/>
            <a:ext cx="3337560" cy="502920"/>
          </a:xfrm>
          <a:prstGeom prst="rect">
            <a:avLst/>
          </a:prstGeom>
          <a:noFill/>
        </p:spPr>
        <p:txBody>
          <a:bodyPr wrap="square" anchor="t" lIns="0" rIns="0" tIns="0" bIns="0">
            <a:spAutoFit/>
          </a:bodyPr>
          <a:lstStyle/>
          <a:p>
            <a:pPr algn="l"/>
            <a:r>
              <a:rPr sz="1300" b="0" i="0">
                <a:solidFill>
                  <a:srgbClr val="5F6670"/>
                </a:solidFill>
                <a:latin typeface="Calibri"/>
              </a:rPr>
              <a:t>to catch each real step of degradation (CUSUM and Bayesian change points)</a:t>
            </a:r>
          </a:p>
        </p:txBody>
      </p:sp>
      <p:sp>
        <p:nvSpPr>
          <p:cNvPr id="8" name="Rounded Rectangle 7"/>
          <p:cNvSpPr/>
          <p:nvPr/>
        </p:nvSpPr>
        <p:spPr>
          <a:xfrm>
            <a:off x="7863840" y="3200400"/>
            <a:ext cx="3794760" cy="1417320"/>
          </a:xfrm>
          <a:prstGeom prst="roundRect">
            <a:avLst>
              <a:gd name="adj" fmla="val 8000"/>
            </a:avLst>
          </a:prstGeom>
          <a:solidFill>
            <a:srgbClr val="EEF1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8092440" y="3364992"/>
            <a:ext cx="3337560" cy="685800"/>
          </a:xfrm>
          <a:prstGeom prst="rect">
            <a:avLst/>
          </a:prstGeom>
          <a:noFill/>
        </p:spPr>
        <p:txBody>
          <a:bodyPr wrap="square" anchor="t" lIns="0" rIns="0" tIns="0" bIns="0">
            <a:spAutoFit/>
          </a:bodyPr>
          <a:lstStyle/>
          <a:p>
            <a:pPr algn="l"/>
            <a:r>
              <a:rPr sz="4000" b="1" i="0">
                <a:solidFill>
                  <a:srgbClr val="13233F"/>
                </a:solidFill>
                <a:latin typeface="Calibri"/>
              </a:rPr>
              <a:t>1-3 %</a:t>
            </a:r>
          </a:p>
        </p:txBody>
      </p:sp>
      <p:sp>
        <p:nvSpPr>
          <p:cNvPr id="10" name="TextBox 9"/>
          <p:cNvSpPr txBox="1"/>
          <p:nvPr/>
        </p:nvSpPr>
        <p:spPr>
          <a:xfrm>
            <a:off x="8092440" y="4041648"/>
            <a:ext cx="3337560" cy="502920"/>
          </a:xfrm>
          <a:prstGeom prst="rect">
            <a:avLst/>
          </a:prstGeom>
          <a:noFill/>
        </p:spPr>
        <p:txBody>
          <a:bodyPr wrap="square" anchor="t" lIns="0" rIns="0" tIns="0" bIns="0">
            <a:spAutoFit/>
          </a:bodyPr>
          <a:lstStyle/>
          <a:p>
            <a:pPr algn="l"/>
            <a:r>
              <a:rPr sz="1300" b="0" i="0">
                <a:solidFill>
                  <a:srgbClr val="5F6670"/>
                </a:solidFill>
                <a:latin typeface="Calibri"/>
              </a:rPr>
              <a:t>extra resistance when a slow, simulated clog is first flagged</a:t>
            </a:r>
          </a:p>
        </p:txBody>
      </p:sp>
      <p:sp>
        <p:nvSpPr>
          <p:cNvPr id="11" name="TextBox 10"/>
          <p:cNvSpPr txBox="1"/>
          <p:nvPr/>
        </p:nvSpPr>
        <p:spPr>
          <a:xfrm>
            <a:off x="548640" y="5029200"/>
            <a:ext cx="11064240" cy="1463040"/>
          </a:xfrm>
          <a:prstGeom prst="rect">
            <a:avLst/>
          </a:prstGeom>
          <a:noFill/>
        </p:spPr>
        <p:txBody>
          <a:bodyPr wrap="square" lIns="0" rIns="0" tIns="0" bIns="0">
            <a:spAutoFit/>
          </a:bodyPr>
          <a:lstStyle/>
          <a:p>
            <a:pPr>
              <a:spcAft>
                <a:spcPts val="800"/>
              </a:spcAft>
            </a:pPr>
            <a:r>
              <a:rPr sz="1100">
                <a:solidFill>
                  <a:srgbClr val="E8A33D"/>
                </a:solidFill>
                <a:latin typeface="Calibri"/>
              </a:rPr>
              <a:t>●  </a:t>
            </a:r>
            <a:r>
              <a:rPr sz="1500" b="1">
                <a:solidFill>
                  <a:srgbClr val="1B1F24"/>
                </a:solidFill>
                <a:latin typeface="Calibri"/>
              </a:rPr>
              <a:t>Anomaly detectors trained on 5 minutes of healthy data flag everything that follows </a:t>
            </a:r>
            <a:r>
              <a:rPr sz="1500" b="0">
                <a:solidFill>
                  <a:srgbClr val="1B1F24"/>
                </a:solidFill>
                <a:latin typeface="Calibri"/>
              </a:rPr>
              <a:t>(even settings with no fault): a data-coverage limit, not an algorithm one.</a:t>
            </a:r>
          </a:p>
          <a:p>
            <a:pPr>
              <a:spcAft>
                <a:spcPts val="800"/>
              </a:spcAft>
            </a:pPr>
            <a:r>
              <a:rPr sz="1100">
                <a:solidFill>
                  <a:srgbClr val="E8A33D"/>
                </a:solidFill>
                <a:latin typeface="Calibri"/>
              </a:rPr>
              <a:t>●  </a:t>
            </a:r>
            <a:r>
              <a:rPr sz="1500" b="1">
                <a:solidFill>
                  <a:srgbClr val="1B1F24"/>
                </a:solidFill>
                <a:latin typeface="Calibri"/>
              </a:rPr>
              <a:t>Kalman-smoothed indicators </a:t>
            </a:r>
            <a:r>
              <a:rPr sz="1500" b="0">
                <a:solidFill>
                  <a:srgbClr val="1B1F24"/>
                </a:solidFill>
                <a:latin typeface="Calibri"/>
              </a:rPr>
              <a:t>lift accuracy on borderline recordings by 10-15 points.</a:t>
            </a:r>
          </a:p>
        </p:txBody>
      </p:sp>
      <p:sp>
        <p:nvSpPr>
          <p:cNvPr id="12" name="TextBox 11"/>
          <p:cNvSpPr txBox="1"/>
          <p:nvPr/>
        </p:nvSpPr>
        <p:spPr>
          <a:xfrm>
            <a:off x="10728655" y="6446520"/>
            <a:ext cx="914400" cy="274320"/>
          </a:xfrm>
          <a:prstGeom prst="rect">
            <a:avLst/>
          </a:prstGeom>
          <a:noFill/>
        </p:spPr>
        <p:txBody>
          <a:bodyPr wrap="square" anchor="t" lIns="0" rIns="0" tIns="0" bIns="0">
            <a:spAutoFit/>
          </a:bodyPr>
          <a:lstStyle/>
          <a:p>
            <a:pPr algn="r"/>
            <a:r>
              <a:rPr sz="1100" b="0" i="0">
                <a:solidFill>
                  <a:srgbClr val="9AA3AD"/>
                </a:solidFill>
                <a:latin typeface="Calibri"/>
              </a:rPr>
              <a:t>12</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FCFCFB"/>
        </a:solidFill>
        <a:effectLst/>
      </p:bgPr>
    </p:bg>
    <p:spTree>
      <p:nvGrpSpPr>
        <p:cNvPr id="1" name=""/>
        <p:cNvGrpSpPr/>
        <p:nvPr/>
      </p:nvGrpSpPr>
      <p:grpSpPr/>
      <p:sp>
        <p:nvSpPr>
          <p:cNvPr id="2" name="Title"/>
          <p:cNvSpPr txBox="1"/>
          <p:nvPr/>
        </p:nvSpPr>
        <p:spPr>
          <a:xfrm>
            <a:off x="548640" y="411480"/>
            <a:ext cx="11094415" cy="731520"/>
          </a:xfrm>
          <a:prstGeom prst="rect">
            <a:avLst/>
          </a:prstGeom>
          <a:noFill/>
        </p:spPr>
        <p:txBody>
          <a:bodyPr wrap="square" anchor="t" lIns="0" rIns="0" tIns="0" bIns="0">
            <a:spAutoFit/>
          </a:bodyPr>
          <a:lstStyle/>
          <a:p>
            <a:pPr algn="l"/>
            <a:r>
              <a:rPr sz="3400" b="1" i="0">
                <a:solidFill>
                  <a:srgbClr val="1B1F24"/>
                </a:solidFill>
                <a:latin typeface="Calibri"/>
              </a:rPr>
              <a:t>Putting it together: the whole test day replayed live</a:t>
            </a:r>
          </a:p>
        </p:txBody>
      </p:sp>
      <p:pic>
        <p:nvPicPr>
          <p:cNvPr id="3" name="Picture 2" descr="06_day_replay.png"/>
          <p:cNvPicPr>
            <a:picLocks noChangeAspect="1"/>
          </p:cNvPicPr>
          <p:nvPr/>
        </p:nvPicPr>
        <p:blipFill>
          <a:blip r:embed="rId2"/>
          <a:stretch>
            <a:fillRect/>
          </a:stretch>
        </p:blipFill>
        <p:spPr>
          <a:xfrm>
            <a:off x="2230654" y="1280160"/>
            <a:ext cx="7700210" cy="3429000"/>
          </a:xfrm>
          <a:prstGeom prst="rect">
            <a:avLst/>
          </a:prstGeom>
        </p:spPr>
      </p:pic>
      <p:sp>
        <p:nvSpPr>
          <p:cNvPr id="4" name="Rounded Rectangle 3"/>
          <p:cNvSpPr/>
          <p:nvPr/>
        </p:nvSpPr>
        <p:spPr>
          <a:xfrm>
            <a:off x="548640" y="4892040"/>
            <a:ext cx="3520440" cy="1371600"/>
          </a:xfrm>
          <a:prstGeom prst="roundRect">
            <a:avLst>
              <a:gd name="adj" fmla="val 8000"/>
            </a:avLst>
          </a:prstGeom>
          <a:solidFill>
            <a:srgbClr val="EEF1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777240" y="5056631"/>
            <a:ext cx="3063240" cy="685800"/>
          </a:xfrm>
          <a:prstGeom prst="rect">
            <a:avLst/>
          </a:prstGeom>
          <a:noFill/>
        </p:spPr>
        <p:txBody>
          <a:bodyPr wrap="square" anchor="t" lIns="0" rIns="0" tIns="0" bIns="0">
            <a:spAutoFit/>
          </a:bodyPr>
          <a:lstStyle/>
          <a:p>
            <a:pPr algn="l"/>
            <a:r>
              <a:rPr sz="4000" b="1" i="0">
                <a:solidFill>
                  <a:srgbClr val="13233F"/>
                </a:solidFill>
                <a:latin typeface="Calibri"/>
              </a:rPr>
              <a:t>0</a:t>
            </a:r>
          </a:p>
        </p:txBody>
      </p:sp>
      <p:sp>
        <p:nvSpPr>
          <p:cNvPr id="6" name="TextBox 5"/>
          <p:cNvSpPr txBox="1"/>
          <p:nvPr/>
        </p:nvSpPr>
        <p:spPr>
          <a:xfrm>
            <a:off x="777240" y="5733288"/>
            <a:ext cx="3063240" cy="457200"/>
          </a:xfrm>
          <a:prstGeom prst="rect">
            <a:avLst/>
          </a:prstGeom>
          <a:noFill/>
        </p:spPr>
        <p:txBody>
          <a:bodyPr wrap="square" anchor="t" lIns="0" rIns="0" tIns="0" bIns="0">
            <a:spAutoFit/>
          </a:bodyPr>
          <a:lstStyle/>
          <a:p>
            <a:pPr algn="l"/>
            <a:r>
              <a:rPr sz="1300" b="0" i="0">
                <a:solidFill>
                  <a:srgbClr val="5F6670"/>
                </a:solidFill>
                <a:latin typeface="Calibri"/>
              </a:rPr>
              <a:t>false alarms on healthy data</a:t>
            </a:r>
          </a:p>
        </p:txBody>
      </p:sp>
      <p:sp>
        <p:nvSpPr>
          <p:cNvPr id="7" name="Rounded Rectangle 6"/>
          <p:cNvSpPr/>
          <p:nvPr/>
        </p:nvSpPr>
        <p:spPr>
          <a:xfrm>
            <a:off x="4315968" y="4892040"/>
            <a:ext cx="3520440" cy="1371600"/>
          </a:xfrm>
          <a:prstGeom prst="roundRect">
            <a:avLst>
              <a:gd name="adj" fmla="val 8000"/>
            </a:avLst>
          </a:prstGeom>
          <a:solidFill>
            <a:srgbClr val="EEF1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4544568" y="5056631"/>
            <a:ext cx="3063240" cy="685800"/>
          </a:xfrm>
          <a:prstGeom prst="rect">
            <a:avLst/>
          </a:prstGeom>
          <a:noFill/>
        </p:spPr>
        <p:txBody>
          <a:bodyPr wrap="square" anchor="t" lIns="0" rIns="0" tIns="0" bIns="0">
            <a:spAutoFit/>
          </a:bodyPr>
          <a:lstStyle/>
          <a:p>
            <a:pPr algn="l"/>
            <a:r>
              <a:rPr sz="4000" b="1" i="0">
                <a:solidFill>
                  <a:srgbClr val="13233F"/>
                </a:solidFill>
                <a:latin typeface="Calibri"/>
              </a:rPr>
              <a:t>41 / 47</a:t>
            </a:r>
          </a:p>
        </p:txBody>
      </p:sp>
      <p:sp>
        <p:nvSpPr>
          <p:cNvPr id="9" name="TextBox 8"/>
          <p:cNvSpPr txBox="1"/>
          <p:nvPr/>
        </p:nvSpPr>
        <p:spPr>
          <a:xfrm>
            <a:off x="4544568" y="5733288"/>
            <a:ext cx="3063240" cy="457200"/>
          </a:xfrm>
          <a:prstGeom prst="rect">
            <a:avLst/>
          </a:prstGeom>
          <a:noFill/>
        </p:spPr>
        <p:txBody>
          <a:bodyPr wrap="square" anchor="t" lIns="0" rIns="0" tIns="0" bIns="0">
            <a:spAutoFit/>
          </a:bodyPr>
          <a:lstStyle/>
          <a:p>
            <a:pPr algn="l"/>
            <a:r>
              <a:rPr sz="1300" b="0" i="0">
                <a:solidFill>
                  <a:srgbClr val="5F6670"/>
                </a:solidFill>
                <a:latin typeface="Calibri"/>
              </a:rPr>
              <a:t>recordings end on the right condition</a:t>
            </a:r>
          </a:p>
        </p:txBody>
      </p:sp>
      <p:sp>
        <p:nvSpPr>
          <p:cNvPr id="10" name="Rounded Rectangle 9"/>
          <p:cNvSpPr/>
          <p:nvPr/>
        </p:nvSpPr>
        <p:spPr>
          <a:xfrm>
            <a:off x="8092440" y="4892040"/>
            <a:ext cx="3520440" cy="1371600"/>
          </a:xfrm>
          <a:prstGeom prst="roundRect">
            <a:avLst>
              <a:gd name="adj" fmla="val 8000"/>
            </a:avLst>
          </a:prstGeom>
          <a:solidFill>
            <a:srgbClr val="EEF1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8321040" y="5056631"/>
            <a:ext cx="3063240" cy="685800"/>
          </a:xfrm>
          <a:prstGeom prst="rect">
            <a:avLst/>
          </a:prstGeom>
          <a:noFill/>
        </p:spPr>
        <p:txBody>
          <a:bodyPr wrap="square" anchor="t" lIns="0" rIns="0" tIns="0" bIns="0">
            <a:spAutoFit/>
          </a:bodyPr>
          <a:lstStyle/>
          <a:p>
            <a:pPr algn="l"/>
            <a:r>
              <a:rPr sz="4000" b="1" i="0">
                <a:solidFill>
                  <a:srgbClr val="13233F"/>
                </a:solidFill>
                <a:latin typeface="Calibri"/>
              </a:rPr>
              <a:t>100 %</a:t>
            </a:r>
          </a:p>
        </p:txBody>
      </p:sp>
      <p:sp>
        <p:nvSpPr>
          <p:cNvPr id="12" name="TextBox 11"/>
          <p:cNvSpPr txBox="1"/>
          <p:nvPr/>
        </p:nvSpPr>
        <p:spPr>
          <a:xfrm>
            <a:off x="8321040" y="5733288"/>
            <a:ext cx="3063240" cy="457200"/>
          </a:xfrm>
          <a:prstGeom prst="rect">
            <a:avLst/>
          </a:prstGeom>
          <a:noFill/>
        </p:spPr>
        <p:txBody>
          <a:bodyPr wrap="square" anchor="t" lIns="0" rIns="0" tIns="0" bIns="0">
            <a:spAutoFit/>
          </a:bodyPr>
          <a:lstStyle/>
          <a:p>
            <a:pPr algn="l"/>
            <a:r>
              <a:rPr sz="1300" b="0" i="0">
                <a:solidFill>
                  <a:srgbClr val="5F6670"/>
                </a:solidFill>
                <a:latin typeface="Calibri"/>
              </a:rPr>
              <a:t>of the one drift-caused mistake flagged as low confidence</a:t>
            </a:r>
          </a:p>
        </p:txBody>
      </p:sp>
      <p:sp>
        <p:nvSpPr>
          <p:cNvPr id="13" name="TextBox 12"/>
          <p:cNvSpPr txBox="1"/>
          <p:nvPr/>
        </p:nvSpPr>
        <p:spPr>
          <a:xfrm>
            <a:off x="10728655" y="6446520"/>
            <a:ext cx="914400" cy="274320"/>
          </a:xfrm>
          <a:prstGeom prst="rect">
            <a:avLst/>
          </a:prstGeom>
          <a:noFill/>
        </p:spPr>
        <p:txBody>
          <a:bodyPr wrap="square" anchor="t" lIns="0" rIns="0" tIns="0" bIns="0">
            <a:spAutoFit/>
          </a:bodyPr>
          <a:lstStyle/>
          <a:p>
            <a:pPr algn="r"/>
            <a:r>
              <a:rPr sz="1100" b="0" i="0">
                <a:solidFill>
                  <a:srgbClr val="9AA3AD"/>
                </a:solidFill>
                <a:latin typeface="Calibri"/>
              </a:rPr>
              <a:t>13</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13233F"/>
        </a:solidFill>
        <a:effectLst/>
      </p:bgPr>
    </p:bg>
    <p:spTree>
      <p:nvGrpSpPr>
        <p:cNvPr id="1" name=""/>
        <p:cNvGrpSpPr/>
        <p:nvPr/>
      </p:nvGrpSpPr>
      <p:grpSpPr/>
      <p:sp>
        <p:nvSpPr>
          <p:cNvPr id="2" name="Title"/>
          <p:cNvSpPr txBox="1"/>
          <p:nvPr/>
        </p:nvSpPr>
        <p:spPr>
          <a:xfrm>
            <a:off x="548640" y="411480"/>
            <a:ext cx="11094415" cy="731520"/>
          </a:xfrm>
          <a:prstGeom prst="rect">
            <a:avLst/>
          </a:prstGeom>
          <a:noFill/>
        </p:spPr>
        <p:txBody>
          <a:bodyPr wrap="square" anchor="t" lIns="0" rIns="0" tIns="0" bIns="0">
            <a:spAutoFit/>
          </a:bodyPr>
          <a:lstStyle/>
          <a:p>
            <a:pPr algn="l"/>
            <a:r>
              <a:rPr sz="3400" b="1" i="0">
                <a:solidFill>
                  <a:srgbClr val="FFFFFF"/>
                </a:solidFill>
                <a:latin typeface="Calibri"/>
              </a:rPr>
              <a:t>What limits it is the data, not the algorithms</a:t>
            </a:r>
          </a:p>
        </p:txBody>
      </p:sp>
      <p:sp>
        <p:nvSpPr>
          <p:cNvPr id="3" name="Subtitle"/>
          <p:cNvSpPr txBox="1"/>
          <p:nvPr/>
        </p:nvSpPr>
        <p:spPr>
          <a:xfrm>
            <a:off x="548640" y="1097280"/>
            <a:ext cx="11094415" cy="411480"/>
          </a:xfrm>
          <a:prstGeom prst="rect">
            <a:avLst/>
          </a:prstGeom>
          <a:noFill/>
        </p:spPr>
        <p:txBody>
          <a:bodyPr wrap="square" anchor="t" lIns="0" rIns="0" tIns="0" bIns="0">
            <a:spAutoFit/>
          </a:bodyPr>
          <a:lstStyle/>
          <a:p>
            <a:pPr algn="l"/>
            <a:r>
              <a:rPr sz="1600" b="0" i="0">
                <a:solidFill>
                  <a:srgbClr val="C9D6EA"/>
                </a:solidFill>
                <a:latin typeface="Calibri"/>
              </a:rPr>
              <a:t>Next steps that would turn the digital shadow into a digital twin</a:t>
            </a:r>
          </a:p>
        </p:txBody>
      </p:sp>
      <p:sp>
        <p:nvSpPr>
          <p:cNvPr id="4" name="Rounded Rectangle 3"/>
          <p:cNvSpPr/>
          <p:nvPr/>
        </p:nvSpPr>
        <p:spPr>
          <a:xfrm>
            <a:off x="548640" y="1874519"/>
            <a:ext cx="3520440" cy="1965960"/>
          </a:xfrm>
          <a:prstGeom prst="roundRect">
            <a:avLst>
              <a:gd name="adj" fmla="val 8000"/>
            </a:avLst>
          </a:prstGeom>
          <a:solidFill>
            <a:srgbClr val="1E335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Oval 4"/>
          <p:cNvSpPr/>
          <p:nvPr/>
        </p:nvSpPr>
        <p:spPr>
          <a:xfrm>
            <a:off x="822959" y="2148839"/>
            <a:ext cx="457200" cy="457200"/>
          </a:xfrm>
          <a:prstGeom prst="ellipse">
            <a:avLst/>
          </a:prstGeom>
          <a:solidFill>
            <a:srgbClr val="E8A33D"/>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b="1" sz="1500">
                <a:solidFill>
                  <a:srgbClr val="13233F"/>
                </a:solidFill>
                <a:latin typeface="Calibri"/>
              </a:rPr>
              <a:t>1</a:t>
            </a:r>
          </a:p>
        </p:txBody>
      </p:sp>
      <p:sp>
        <p:nvSpPr>
          <p:cNvPr id="6" name="TextBox 5"/>
          <p:cNvSpPr txBox="1"/>
          <p:nvPr/>
        </p:nvSpPr>
        <p:spPr>
          <a:xfrm>
            <a:off x="1417319" y="2148839"/>
            <a:ext cx="2514600" cy="502920"/>
          </a:xfrm>
          <a:prstGeom prst="rect">
            <a:avLst/>
          </a:prstGeom>
          <a:noFill/>
        </p:spPr>
        <p:txBody>
          <a:bodyPr wrap="square" anchor="ctr" lIns="0" rIns="0" tIns="0" bIns="0">
            <a:spAutoFit/>
          </a:bodyPr>
          <a:lstStyle/>
          <a:p>
            <a:pPr algn="l"/>
            <a:r>
              <a:rPr sz="1700" b="1" i="0">
                <a:solidFill>
                  <a:srgbClr val="FFFFFF"/>
                </a:solidFill>
                <a:latin typeface="Calibri"/>
              </a:rPr>
              <a:t>Measure fluid temperature</a:t>
            </a:r>
          </a:p>
        </p:txBody>
      </p:sp>
      <p:sp>
        <p:nvSpPr>
          <p:cNvPr id="7" name="TextBox 6"/>
          <p:cNvSpPr txBox="1"/>
          <p:nvPr/>
        </p:nvSpPr>
        <p:spPr>
          <a:xfrm>
            <a:off x="822959" y="2834639"/>
            <a:ext cx="3017520" cy="914400"/>
          </a:xfrm>
          <a:prstGeom prst="rect">
            <a:avLst/>
          </a:prstGeom>
          <a:noFill/>
        </p:spPr>
        <p:txBody>
          <a:bodyPr wrap="square" anchor="t" lIns="0" rIns="0" tIns="0" bIns="0">
            <a:spAutoFit/>
          </a:bodyPr>
          <a:lstStyle/>
          <a:p>
            <a:pPr algn="l"/>
            <a:r>
              <a:rPr sz="1400" b="0" i="0">
                <a:solidFill>
                  <a:srgbClr val="C9D6EA"/>
                </a:solidFill>
                <a:latin typeface="Calibri"/>
              </a:rPr>
              <a:t>It drives the pump drift that mimics faults.</a:t>
            </a:r>
          </a:p>
        </p:txBody>
      </p:sp>
      <p:sp>
        <p:nvSpPr>
          <p:cNvPr id="8" name="Rounded Rectangle 7"/>
          <p:cNvSpPr/>
          <p:nvPr/>
        </p:nvSpPr>
        <p:spPr>
          <a:xfrm>
            <a:off x="4297679" y="1874519"/>
            <a:ext cx="3520440" cy="1965960"/>
          </a:xfrm>
          <a:prstGeom prst="roundRect">
            <a:avLst>
              <a:gd name="adj" fmla="val 8000"/>
            </a:avLst>
          </a:prstGeom>
          <a:solidFill>
            <a:srgbClr val="1E335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4571999" y="2148839"/>
            <a:ext cx="457200" cy="457200"/>
          </a:xfrm>
          <a:prstGeom prst="ellipse">
            <a:avLst/>
          </a:prstGeom>
          <a:solidFill>
            <a:srgbClr val="E8A33D"/>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b="1" sz="1500">
                <a:solidFill>
                  <a:srgbClr val="13233F"/>
                </a:solidFill>
                <a:latin typeface="Calibri"/>
              </a:rPr>
              <a:t>2</a:t>
            </a:r>
          </a:p>
        </p:txBody>
      </p:sp>
      <p:sp>
        <p:nvSpPr>
          <p:cNvPr id="10" name="TextBox 9"/>
          <p:cNvSpPr txBox="1"/>
          <p:nvPr/>
        </p:nvSpPr>
        <p:spPr>
          <a:xfrm>
            <a:off x="5166359" y="2148839"/>
            <a:ext cx="2514600" cy="502920"/>
          </a:xfrm>
          <a:prstGeom prst="rect">
            <a:avLst/>
          </a:prstGeom>
          <a:noFill/>
        </p:spPr>
        <p:txBody>
          <a:bodyPr wrap="square" anchor="ctr" lIns="0" rIns="0" tIns="0" bIns="0">
            <a:spAutoFit/>
          </a:bodyPr>
          <a:lstStyle/>
          <a:p>
            <a:pPr algn="l"/>
            <a:r>
              <a:rPr sz="1700" b="1" i="0">
                <a:solidFill>
                  <a:srgbClr val="FFFFFF"/>
                </a:solidFill>
                <a:latin typeface="Calibri"/>
              </a:rPr>
              <a:t>Record healthy data all day</a:t>
            </a:r>
          </a:p>
        </p:txBody>
      </p:sp>
      <p:sp>
        <p:nvSpPr>
          <p:cNvPr id="11" name="TextBox 10"/>
          <p:cNvSpPr txBox="1"/>
          <p:nvPr/>
        </p:nvSpPr>
        <p:spPr>
          <a:xfrm>
            <a:off x="4571999" y="2834639"/>
            <a:ext cx="3017520" cy="914400"/>
          </a:xfrm>
          <a:prstGeom prst="rect">
            <a:avLst/>
          </a:prstGeom>
          <a:noFill/>
        </p:spPr>
        <p:txBody>
          <a:bodyPr wrap="square" anchor="t" lIns="0" rIns="0" tIns="0" bIns="0">
            <a:spAutoFit/>
          </a:bodyPr>
          <a:lstStyle/>
          <a:p>
            <a:pPr algn="l"/>
            <a:r>
              <a:rPr sz="1400" b="0" i="0">
                <a:solidFill>
                  <a:srgbClr val="C9D6EA"/>
                </a:solidFill>
                <a:latin typeface="Calibri"/>
              </a:rPr>
              <a:t>Five minutes cannot define normal.</a:t>
            </a:r>
          </a:p>
        </p:txBody>
      </p:sp>
      <p:sp>
        <p:nvSpPr>
          <p:cNvPr id="12" name="Rounded Rectangle 11"/>
          <p:cNvSpPr/>
          <p:nvPr/>
        </p:nvSpPr>
        <p:spPr>
          <a:xfrm>
            <a:off x="8046719" y="1874519"/>
            <a:ext cx="3520440" cy="1965960"/>
          </a:xfrm>
          <a:prstGeom prst="roundRect">
            <a:avLst>
              <a:gd name="adj" fmla="val 8000"/>
            </a:avLst>
          </a:prstGeom>
          <a:solidFill>
            <a:srgbClr val="1E335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Oval 12"/>
          <p:cNvSpPr/>
          <p:nvPr/>
        </p:nvSpPr>
        <p:spPr>
          <a:xfrm>
            <a:off x="8321040" y="2148839"/>
            <a:ext cx="457200" cy="457200"/>
          </a:xfrm>
          <a:prstGeom prst="ellipse">
            <a:avLst/>
          </a:prstGeom>
          <a:solidFill>
            <a:srgbClr val="E8A33D"/>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b="1" sz="1500">
                <a:solidFill>
                  <a:srgbClr val="13233F"/>
                </a:solidFill>
                <a:latin typeface="Calibri"/>
              </a:rPr>
              <a:t>3</a:t>
            </a:r>
          </a:p>
        </p:txBody>
      </p:sp>
      <p:sp>
        <p:nvSpPr>
          <p:cNvPr id="14" name="TextBox 13"/>
          <p:cNvSpPr txBox="1"/>
          <p:nvPr/>
        </p:nvSpPr>
        <p:spPr>
          <a:xfrm>
            <a:off x="8915399" y="2148839"/>
            <a:ext cx="2514600" cy="502920"/>
          </a:xfrm>
          <a:prstGeom prst="rect">
            <a:avLst/>
          </a:prstGeom>
          <a:noFill/>
        </p:spPr>
        <p:txBody>
          <a:bodyPr wrap="square" anchor="ctr" lIns="0" rIns="0" tIns="0" bIns="0">
            <a:spAutoFit/>
          </a:bodyPr>
          <a:lstStyle/>
          <a:p>
            <a:pPr algn="l"/>
            <a:r>
              <a:rPr sz="1700" b="1" i="0">
                <a:solidFill>
                  <a:srgbClr val="FFFFFF"/>
                </a:solidFill>
                <a:latin typeface="Calibri"/>
              </a:rPr>
              <a:t>Randomise the fault schedule</a:t>
            </a:r>
          </a:p>
        </p:txBody>
      </p:sp>
      <p:sp>
        <p:nvSpPr>
          <p:cNvPr id="15" name="TextBox 14"/>
          <p:cNvSpPr txBox="1"/>
          <p:nvPr/>
        </p:nvSpPr>
        <p:spPr>
          <a:xfrm>
            <a:off x="8321040" y="2834639"/>
            <a:ext cx="3017520" cy="914400"/>
          </a:xfrm>
          <a:prstGeom prst="rect">
            <a:avLst/>
          </a:prstGeom>
          <a:noFill/>
        </p:spPr>
        <p:txBody>
          <a:bodyPr wrap="square" anchor="t" lIns="0" rIns="0" tIns="0" bIns="0">
            <a:spAutoFit/>
          </a:bodyPr>
          <a:lstStyle/>
          <a:p>
            <a:pPr algn="l"/>
            <a:r>
              <a:rPr sz="1400" b="0" i="0">
                <a:solidFill>
                  <a:srgbClr val="C9D6EA"/>
                </a:solidFill>
                <a:latin typeface="Calibri"/>
              </a:rPr>
              <a:t>Removes the time-of-day shortcut.</a:t>
            </a:r>
          </a:p>
        </p:txBody>
      </p:sp>
      <p:sp>
        <p:nvSpPr>
          <p:cNvPr id="16" name="Rounded Rectangle 15"/>
          <p:cNvSpPr/>
          <p:nvPr/>
        </p:nvSpPr>
        <p:spPr>
          <a:xfrm>
            <a:off x="548640" y="4114800"/>
            <a:ext cx="3520440" cy="1965960"/>
          </a:xfrm>
          <a:prstGeom prst="roundRect">
            <a:avLst>
              <a:gd name="adj" fmla="val 8000"/>
            </a:avLst>
          </a:prstGeom>
          <a:solidFill>
            <a:srgbClr val="1E335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Oval 16"/>
          <p:cNvSpPr/>
          <p:nvPr/>
        </p:nvSpPr>
        <p:spPr>
          <a:xfrm>
            <a:off x="822959" y="4389120"/>
            <a:ext cx="457200" cy="457200"/>
          </a:xfrm>
          <a:prstGeom prst="ellipse">
            <a:avLst/>
          </a:prstGeom>
          <a:solidFill>
            <a:srgbClr val="E8A33D"/>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b="1" sz="1500">
                <a:solidFill>
                  <a:srgbClr val="13233F"/>
                </a:solidFill>
                <a:latin typeface="Calibri"/>
              </a:rPr>
              <a:t>4</a:t>
            </a:r>
          </a:p>
        </p:txBody>
      </p:sp>
      <p:sp>
        <p:nvSpPr>
          <p:cNvPr id="18" name="TextBox 17"/>
          <p:cNvSpPr txBox="1"/>
          <p:nvPr/>
        </p:nvSpPr>
        <p:spPr>
          <a:xfrm>
            <a:off x="1417319" y="4389120"/>
            <a:ext cx="2514600" cy="502920"/>
          </a:xfrm>
          <a:prstGeom prst="rect">
            <a:avLst/>
          </a:prstGeom>
          <a:noFill/>
        </p:spPr>
        <p:txBody>
          <a:bodyPr wrap="square" anchor="ctr" lIns="0" rIns="0" tIns="0" bIns="0">
            <a:spAutoFit/>
          </a:bodyPr>
          <a:lstStyle/>
          <a:p>
            <a:pPr algn="l"/>
            <a:r>
              <a:rPr sz="1700" b="1" i="0">
                <a:solidFill>
                  <a:srgbClr val="FFFFFF"/>
                </a:solidFill>
                <a:latin typeface="Calibri"/>
              </a:rPr>
              <a:t>Fix the sensor gaps</a:t>
            </a:r>
          </a:p>
        </p:txBody>
      </p:sp>
      <p:sp>
        <p:nvSpPr>
          <p:cNvPr id="19" name="TextBox 18"/>
          <p:cNvSpPr txBox="1"/>
          <p:nvPr/>
        </p:nvSpPr>
        <p:spPr>
          <a:xfrm>
            <a:off x="822959" y="5074920"/>
            <a:ext cx="3017520" cy="914400"/>
          </a:xfrm>
          <a:prstGeom prst="rect">
            <a:avLst/>
          </a:prstGeom>
          <a:noFill/>
        </p:spPr>
        <p:txBody>
          <a:bodyPr wrap="square" anchor="t" lIns="0" rIns="0" tIns="0" bIns="0">
            <a:spAutoFit/>
          </a:bodyPr>
          <a:lstStyle/>
          <a:p>
            <a:pPr algn="l"/>
            <a:r>
              <a:rPr sz="1400" b="0" i="0">
                <a:solidFill>
                  <a:srgbClr val="C9D6EA"/>
                </a:solidFill>
                <a:latin typeface="Calibri"/>
              </a:rPr>
              <a:t>Log air pressure; widen the clipped sensor's range.</a:t>
            </a:r>
          </a:p>
        </p:txBody>
      </p:sp>
      <p:sp>
        <p:nvSpPr>
          <p:cNvPr id="20" name="Rounded Rectangle 19"/>
          <p:cNvSpPr/>
          <p:nvPr/>
        </p:nvSpPr>
        <p:spPr>
          <a:xfrm>
            <a:off x="4297679" y="4114800"/>
            <a:ext cx="3520440" cy="1965960"/>
          </a:xfrm>
          <a:prstGeom prst="roundRect">
            <a:avLst>
              <a:gd name="adj" fmla="val 8000"/>
            </a:avLst>
          </a:prstGeom>
          <a:solidFill>
            <a:srgbClr val="1E335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Oval 20"/>
          <p:cNvSpPr/>
          <p:nvPr/>
        </p:nvSpPr>
        <p:spPr>
          <a:xfrm>
            <a:off x="4571999" y="4389120"/>
            <a:ext cx="457200" cy="457200"/>
          </a:xfrm>
          <a:prstGeom prst="ellipse">
            <a:avLst/>
          </a:prstGeom>
          <a:solidFill>
            <a:srgbClr val="E8A33D"/>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b="1" sz="1500">
                <a:solidFill>
                  <a:srgbClr val="13233F"/>
                </a:solidFill>
                <a:latin typeface="Calibri"/>
              </a:rPr>
              <a:t>5</a:t>
            </a:r>
          </a:p>
        </p:txBody>
      </p:sp>
      <p:sp>
        <p:nvSpPr>
          <p:cNvPr id="22" name="TextBox 21"/>
          <p:cNvSpPr txBox="1"/>
          <p:nvPr/>
        </p:nvSpPr>
        <p:spPr>
          <a:xfrm>
            <a:off x="5166359" y="4389120"/>
            <a:ext cx="2514600" cy="502920"/>
          </a:xfrm>
          <a:prstGeom prst="rect">
            <a:avLst/>
          </a:prstGeom>
          <a:noFill/>
        </p:spPr>
        <p:txBody>
          <a:bodyPr wrap="square" anchor="ctr" lIns="0" rIns="0" tIns="0" bIns="0">
            <a:spAutoFit/>
          </a:bodyPr>
          <a:lstStyle/>
          <a:p>
            <a:pPr algn="l"/>
            <a:r>
              <a:rPr sz="1700" b="1" i="0">
                <a:solidFill>
                  <a:srgbClr val="FFFFFF"/>
                </a:solidFill>
                <a:latin typeface="Calibri"/>
              </a:rPr>
              <a:t>Add a second flow meter</a:t>
            </a:r>
          </a:p>
        </p:txBody>
      </p:sp>
      <p:sp>
        <p:nvSpPr>
          <p:cNvPr id="23" name="TextBox 22"/>
          <p:cNvSpPr txBox="1"/>
          <p:nvPr/>
        </p:nvSpPr>
        <p:spPr>
          <a:xfrm>
            <a:off x="4571999" y="5074920"/>
            <a:ext cx="3017520" cy="914400"/>
          </a:xfrm>
          <a:prstGeom prst="rect">
            <a:avLst/>
          </a:prstGeom>
          <a:noFill/>
        </p:spPr>
        <p:txBody>
          <a:bodyPr wrap="square" anchor="t" lIns="0" rIns="0" tIns="0" bIns="0">
            <a:spAutoFit/>
          </a:bodyPr>
          <a:lstStyle/>
          <a:p>
            <a:pPr algn="l"/>
            <a:r>
              <a:rPr sz="1400" b="0" i="0">
                <a:solidFill>
                  <a:srgbClr val="C9D6EA"/>
                </a:solidFill>
                <a:latin typeface="Calibri"/>
              </a:rPr>
              <a:t>Measures lost flow directly at the pump.</a:t>
            </a:r>
          </a:p>
        </p:txBody>
      </p:sp>
      <p:sp>
        <p:nvSpPr>
          <p:cNvPr id="24" name="Rounded Rectangle 23"/>
          <p:cNvSpPr/>
          <p:nvPr/>
        </p:nvSpPr>
        <p:spPr>
          <a:xfrm>
            <a:off x="8046719" y="4114800"/>
            <a:ext cx="3520440" cy="1965960"/>
          </a:xfrm>
          <a:prstGeom prst="roundRect">
            <a:avLst>
              <a:gd name="adj" fmla="val 8000"/>
            </a:avLst>
          </a:prstGeom>
          <a:solidFill>
            <a:srgbClr val="1E335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Oval 24"/>
          <p:cNvSpPr/>
          <p:nvPr/>
        </p:nvSpPr>
        <p:spPr>
          <a:xfrm>
            <a:off x="8321040" y="4389120"/>
            <a:ext cx="457200" cy="457200"/>
          </a:xfrm>
          <a:prstGeom prst="ellipse">
            <a:avLst/>
          </a:prstGeom>
          <a:solidFill>
            <a:srgbClr val="E8A33D"/>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b="1" sz="1500">
                <a:solidFill>
                  <a:srgbClr val="13233F"/>
                </a:solidFill>
                <a:latin typeface="Calibri"/>
              </a:rPr>
              <a:t>6</a:t>
            </a:r>
          </a:p>
        </p:txBody>
      </p:sp>
      <p:sp>
        <p:nvSpPr>
          <p:cNvPr id="26" name="TextBox 25"/>
          <p:cNvSpPr txBox="1"/>
          <p:nvPr/>
        </p:nvSpPr>
        <p:spPr>
          <a:xfrm>
            <a:off x="8915399" y="4389120"/>
            <a:ext cx="2514600" cy="502920"/>
          </a:xfrm>
          <a:prstGeom prst="rect">
            <a:avLst/>
          </a:prstGeom>
          <a:noFill/>
        </p:spPr>
        <p:txBody>
          <a:bodyPr wrap="square" anchor="ctr" lIns="0" rIns="0" tIns="0" bIns="0">
            <a:spAutoFit/>
          </a:bodyPr>
          <a:lstStyle/>
          <a:p>
            <a:pPr algn="l"/>
            <a:r>
              <a:rPr sz="1700" b="1" i="0">
                <a:solidFill>
                  <a:srgbClr val="FFFFFF"/>
                </a:solidFill>
                <a:latin typeface="Calibri"/>
              </a:rPr>
              <a:t>Close the loop</a:t>
            </a:r>
          </a:p>
        </p:txBody>
      </p:sp>
      <p:sp>
        <p:nvSpPr>
          <p:cNvPr id="27" name="TextBox 26"/>
          <p:cNvSpPr txBox="1"/>
          <p:nvPr/>
        </p:nvSpPr>
        <p:spPr>
          <a:xfrm>
            <a:off x="8321040" y="5074920"/>
            <a:ext cx="3017520" cy="914400"/>
          </a:xfrm>
          <a:prstGeom prst="rect">
            <a:avLst/>
          </a:prstGeom>
          <a:noFill/>
        </p:spPr>
        <p:txBody>
          <a:bodyPr wrap="square" anchor="t" lIns="0" rIns="0" tIns="0" bIns="0">
            <a:spAutoFit/>
          </a:bodyPr>
          <a:lstStyle/>
          <a:p>
            <a:pPr algn="l"/>
            <a:r>
              <a:rPr sz="1400" b="0" i="0">
                <a:solidFill>
                  <a:srgbClr val="C9D6EA"/>
                </a:solidFill>
                <a:latin typeface="Calibri"/>
              </a:rPr>
              <a:t>Feed actions back, such as pump speed or isolating a leak.</a:t>
            </a:r>
          </a:p>
        </p:txBody>
      </p:sp>
      <p:sp>
        <p:nvSpPr>
          <p:cNvPr id="28" name="TextBox 27"/>
          <p:cNvSpPr txBox="1"/>
          <p:nvPr/>
        </p:nvSpPr>
        <p:spPr>
          <a:xfrm>
            <a:off x="10728655" y="6446520"/>
            <a:ext cx="914400" cy="274320"/>
          </a:xfrm>
          <a:prstGeom prst="rect">
            <a:avLst/>
          </a:prstGeom>
          <a:noFill/>
        </p:spPr>
        <p:txBody>
          <a:bodyPr wrap="square" anchor="t" lIns="0" rIns="0" tIns="0" bIns="0">
            <a:spAutoFit/>
          </a:bodyPr>
          <a:lstStyle/>
          <a:p>
            <a:pPr algn="r"/>
            <a:r>
              <a:rPr sz="1100" b="0" i="0">
                <a:solidFill>
                  <a:srgbClr val="C9D6EA"/>
                </a:solidFill>
                <a:latin typeface="Calibri"/>
              </a:rPr>
              <a:t>14</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bg>
      <p:bgPr>
        <a:solidFill>
          <a:srgbClr val="13233F"/>
        </a:solidFill>
        <a:effectLst/>
      </p:bgPr>
    </p:bg>
    <p:spTree>
      <p:nvGrpSpPr>
        <p:cNvPr id="1" name=""/>
        <p:cNvGrpSpPr/>
        <p:nvPr/>
      </p:nvGrpSpPr>
      <p:grpSpPr/>
      <p:sp>
        <p:nvSpPr>
          <p:cNvPr id="2" name="TextBox 1"/>
          <p:cNvSpPr txBox="1"/>
          <p:nvPr/>
        </p:nvSpPr>
        <p:spPr>
          <a:xfrm>
            <a:off x="548640" y="914400"/>
            <a:ext cx="10972800" cy="822960"/>
          </a:xfrm>
          <a:prstGeom prst="rect">
            <a:avLst/>
          </a:prstGeom>
          <a:noFill/>
        </p:spPr>
        <p:txBody>
          <a:bodyPr wrap="square" anchor="t" lIns="0" rIns="0" tIns="0" bIns="0">
            <a:spAutoFit/>
          </a:bodyPr>
          <a:lstStyle/>
          <a:p>
            <a:pPr algn="l"/>
            <a:r>
              <a:rPr sz="3400" b="1" i="0">
                <a:solidFill>
                  <a:srgbClr val="FFFFFF"/>
                </a:solidFill>
                <a:latin typeface="Calibri"/>
              </a:rPr>
              <a:t>Tools and skills</a:t>
            </a:r>
          </a:p>
        </p:txBody>
      </p:sp>
      <p:sp>
        <p:nvSpPr>
          <p:cNvPr id="3" name="Oval 2"/>
          <p:cNvSpPr/>
          <p:nvPr/>
        </p:nvSpPr>
        <p:spPr>
          <a:xfrm>
            <a:off x="548640" y="1965960"/>
            <a:ext cx="292608" cy="292608"/>
          </a:xfrm>
          <a:prstGeom prst="ellipse">
            <a:avLst/>
          </a:prstGeom>
          <a:solidFill>
            <a:srgbClr val="E8A33D"/>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b="1" sz="1600">
                <a:solidFill>
                  <a:srgbClr val="13233F"/>
                </a:solidFill>
                <a:latin typeface="Calibri"/>
              </a:rPr>
              <a:t/>
            </a:r>
          </a:p>
        </p:txBody>
      </p:sp>
      <p:sp>
        <p:nvSpPr>
          <p:cNvPr id="4" name="TextBox 3"/>
          <p:cNvSpPr txBox="1"/>
          <p:nvPr/>
        </p:nvSpPr>
        <p:spPr>
          <a:xfrm>
            <a:off x="1051560" y="1920240"/>
            <a:ext cx="4846320" cy="365760"/>
          </a:xfrm>
          <a:prstGeom prst="rect">
            <a:avLst/>
          </a:prstGeom>
          <a:noFill/>
        </p:spPr>
        <p:txBody>
          <a:bodyPr wrap="square" anchor="t" lIns="0" rIns="0" tIns="0" bIns="0">
            <a:spAutoFit/>
          </a:bodyPr>
          <a:lstStyle/>
          <a:p>
            <a:pPr algn="l"/>
            <a:r>
              <a:rPr sz="1800" b="1" i="0">
                <a:solidFill>
                  <a:srgbClr val="FFFFFF"/>
                </a:solidFill>
                <a:latin typeface="Calibri"/>
              </a:rPr>
              <a:t>Data engineering</a:t>
            </a:r>
          </a:p>
        </p:txBody>
      </p:sp>
      <p:sp>
        <p:nvSpPr>
          <p:cNvPr id="5" name="TextBox 4"/>
          <p:cNvSpPr txBox="1"/>
          <p:nvPr/>
        </p:nvSpPr>
        <p:spPr>
          <a:xfrm>
            <a:off x="1051560" y="2304288"/>
            <a:ext cx="4846320" cy="640080"/>
          </a:xfrm>
          <a:prstGeom prst="rect">
            <a:avLst/>
          </a:prstGeom>
          <a:noFill/>
        </p:spPr>
        <p:txBody>
          <a:bodyPr wrap="square" anchor="t" lIns="0" rIns="0" tIns="0" bIns="0">
            <a:spAutoFit/>
          </a:bodyPr>
          <a:lstStyle/>
          <a:p>
            <a:pPr algn="l"/>
            <a:r>
              <a:rPr sz="1400" b="0" i="0">
                <a:solidFill>
                  <a:srgbClr val="C9D6EA"/>
                </a:solidFill>
                <a:latin typeface="Calibri"/>
              </a:rPr>
              <a:t>Python package, LabVIEW parsing, unit handling, data audit, pytest</a:t>
            </a:r>
          </a:p>
        </p:txBody>
      </p:sp>
      <p:sp>
        <p:nvSpPr>
          <p:cNvPr id="6" name="Oval 5"/>
          <p:cNvSpPr/>
          <p:nvPr/>
        </p:nvSpPr>
        <p:spPr>
          <a:xfrm>
            <a:off x="6126479" y="1965960"/>
            <a:ext cx="292608" cy="292608"/>
          </a:xfrm>
          <a:prstGeom prst="ellipse">
            <a:avLst/>
          </a:prstGeom>
          <a:solidFill>
            <a:srgbClr val="E8A33D"/>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b="1" sz="1600">
                <a:solidFill>
                  <a:srgbClr val="13233F"/>
                </a:solidFill>
                <a:latin typeface="Calibri"/>
              </a:rPr>
              <a:t/>
            </a:r>
          </a:p>
        </p:txBody>
      </p:sp>
      <p:sp>
        <p:nvSpPr>
          <p:cNvPr id="7" name="TextBox 6"/>
          <p:cNvSpPr txBox="1"/>
          <p:nvPr/>
        </p:nvSpPr>
        <p:spPr>
          <a:xfrm>
            <a:off x="6629399" y="1920240"/>
            <a:ext cx="4846320" cy="365760"/>
          </a:xfrm>
          <a:prstGeom prst="rect">
            <a:avLst/>
          </a:prstGeom>
          <a:noFill/>
        </p:spPr>
        <p:txBody>
          <a:bodyPr wrap="square" anchor="t" lIns="0" rIns="0" tIns="0" bIns="0">
            <a:spAutoFit/>
          </a:bodyPr>
          <a:lstStyle/>
          <a:p>
            <a:pPr algn="l"/>
            <a:r>
              <a:rPr sz="1800" b="1" i="0">
                <a:solidFill>
                  <a:srgbClr val="FFFFFF"/>
                </a:solidFill>
                <a:latin typeface="Calibri"/>
              </a:rPr>
              <a:t>Analysis</a:t>
            </a:r>
          </a:p>
        </p:txBody>
      </p:sp>
      <p:sp>
        <p:nvSpPr>
          <p:cNvPr id="8" name="TextBox 7"/>
          <p:cNvSpPr txBox="1"/>
          <p:nvPr/>
        </p:nvSpPr>
        <p:spPr>
          <a:xfrm>
            <a:off x="6629399" y="2304288"/>
            <a:ext cx="4846320" cy="640080"/>
          </a:xfrm>
          <a:prstGeom prst="rect">
            <a:avLst/>
          </a:prstGeom>
          <a:noFill/>
        </p:spPr>
        <p:txBody>
          <a:bodyPr wrap="square" anchor="t" lIns="0" rIns="0" tIns="0" bIns="0">
            <a:spAutoFit/>
          </a:bodyPr>
          <a:lstStyle/>
          <a:p>
            <a:pPr algn="l"/>
            <a:r>
              <a:rPr sz="1400" b="0" i="0">
                <a:solidFill>
                  <a:srgbClr val="C9D6EA"/>
                </a:solidFill>
                <a:latin typeface="Calibri"/>
              </a:rPr>
              <a:t>pandas, NumPy, SciPy, spectral analysis, physics-based feature design</a:t>
            </a:r>
          </a:p>
        </p:txBody>
      </p:sp>
      <p:sp>
        <p:nvSpPr>
          <p:cNvPr id="9" name="Oval 8"/>
          <p:cNvSpPr/>
          <p:nvPr/>
        </p:nvSpPr>
        <p:spPr>
          <a:xfrm>
            <a:off x="548640" y="3108960"/>
            <a:ext cx="292608" cy="292608"/>
          </a:xfrm>
          <a:prstGeom prst="ellipse">
            <a:avLst/>
          </a:prstGeom>
          <a:solidFill>
            <a:srgbClr val="E8A33D"/>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b="1" sz="1600">
                <a:solidFill>
                  <a:srgbClr val="13233F"/>
                </a:solidFill>
                <a:latin typeface="Calibri"/>
              </a:rPr>
              <a:t/>
            </a:r>
          </a:p>
        </p:txBody>
      </p:sp>
      <p:sp>
        <p:nvSpPr>
          <p:cNvPr id="10" name="TextBox 9"/>
          <p:cNvSpPr txBox="1"/>
          <p:nvPr/>
        </p:nvSpPr>
        <p:spPr>
          <a:xfrm>
            <a:off x="1051560" y="3063240"/>
            <a:ext cx="4846320" cy="365760"/>
          </a:xfrm>
          <a:prstGeom prst="rect">
            <a:avLst/>
          </a:prstGeom>
          <a:noFill/>
        </p:spPr>
        <p:txBody>
          <a:bodyPr wrap="square" anchor="t" lIns="0" rIns="0" tIns="0" bIns="0">
            <a:spAutoFit/>
          </a:bodyPr>
          <a:lstStyle/>
          <a:p>
            <a:pPr algn="l"/>
            <a:r>
              <a:rPr sz="1800" b="1" i="0">
                <a:solidFill>
                  <a:srgbClr val="FFFFFF"/>
                </a:solidFill>
                <a:latin typeface="Calibri"/>
              </a:rPr>
              <a:t>Machine learning</a:t>
            </a:r>
          </a:p>
        </p:txBody>
      </p:sp>
      <p:sp>
        <p:nvSpPr>
          <p:cNvPr id="11" name="TextBox 10"/>
          <p:cNvSpPr txBox="1"/>
          <p:nvPr/>
        </p:nvSpPr>
        <p:spPr>
          <a:xfrm>
            <a:off x="1051560" y="3447288"/>
            <a:ext cx="4846320" cy="640080"/>
          </a:xfrm>
          <a:prstGeom prst="rect">
            <a:avLst/>
          </a:prstGeom>
          <a:noFill/>
        </p:spPr>
        <p:txBody>
          <a:bodyPr wrap="square" anchor="t" lIns="0" rIns="0" tIns="0" bIns="0">
            <a:spAutoFit/>
          </a:bodyPr>
          <a:lstStyle/>
          <a:p>
            <a:pPr algn="l"/>
            <a:r>
              <a:rPr sz="1400" b="0" i="0">
                <a:solidFill>
                  <a:srgbClr val="C9D6EA"/>
                </a:solidFill>
                <a:latin typeface="Calibri"/>
              </a:rPr>
              <a:t>scikit-learn classifiers and regressors, Gaussian processes, anomaly detection</a:t>
            </a:r>
          </a:p>
        </p:txBody>
      </p:sp>
      <p:sp>
        <p:nvSpPr>
          <p:cNvPr id="12" name="Oval 11"/>
          <p:cNvSpPr/>
          <p:nvPr/>
        </p:nvSpPr>
        <p:spPr>
          <a:xfrm>
            <a:off x="6126479" y="3108960"/>
            <a:ext cx="292608" cy="292608"/>
          </a:xfrm>
          <a:prstGeom prst="ellipse">
            <a:avLst/>
          </a:prstGeom>
          <a:solidFill>
            <a:srgbClr val="E8A33D"/>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b="1" sz="1600">
                <a:solidFill>
                  <a:srgbClr val="13233F"/>
                </a:solidFill>
                <a:latin typeface="Calibri"/>
              </a:rPr>
              <a:t/>
            </a:r>
          </a:p>
        </p:txBody>
      </p:sp>
      <p:sp>
        <p:nvSpPr>
          <p:cNvPr id="13" name="TextBox 12"/>
          <p:cNvSpPr txBox="1"/>
          <p:nvPr/>
        </p:nvSpPr>
        <p:spPr>
          <a:xfrm>
            <a:off x="6629399" y="3063240"/>
            <a:ext cx="4846320" cy="365760"/>
          </a:xfrm>
          <a:prstGeom prst="rect">
            <a:avLst/>
          </a:prstGeom>
          <a:noFill/>
        </p:spPr>
        <p:txBody>
          <a:bodyPr wrap="square" anchor="t" lIns="0" rIns="0" tIns="0" bIns="0">
            <a:spAutoFit/>
          </a:bodyPr>
          <a:lstStyle/>
          <a:p>
            <a:pPr algn="l"/>
            <a:r>
              <a:rPr sz="1800" b="1" i="0">
                <a:solidFill>
                  <a:srgbClr val="FFFFFF"/>
                </a:solidFill>
                <a:latin typeface="Calibri"/>
              </a:rPr>
              <a:t>Validation</a:t>
            </a:r>
          </a:p>
        </p:txBody>
      </p:sp>
      <p:sp>
        <p:nvSpPr>
          <p:cNvPr id="14" name="TextBox 13"/>
          <p:cNvSpPr txBox="1"/>
          <p:nvPr/>
        </p:nvSpPr>
        <p:spPr>
          <a:xfrm>
            <a:off x="6629399" y="3447288"/>
            <a:ext cx="4846320" cy="640080"/>
          </a:xfrm>
          <a:prstGeom prst="rect">
            <a:avLst/>
          </a:prstGeom>
          <a:noFill/>
        </p:spPr>
        <p:txBody>
          <a:bodyPr wrap="square" anchor="t" lIns="0" rIns="0" tIns="0" bIns="0">
            <a:spAutoFit/>
          </a:bodyPr>
          <a:lstStyle/>
          <a:p>
            <a:pPr algn="l"/>
            <a:r>
              <a:rPr sz="1400" b="0" i="0">
                <a:solidFill>
                  <a:srgbClr val="C9D6EA"/>
                </a:solidFill>
                <a:latin typeface="Calibri"/>
              </a:rPr>
              <a:t>leave-one-group-out, shortcut tests, train-severe/test-mild, independent test sets</a:t>
            </a:r>
          </a:p>
        </p:txBody>
      </p:sp>
      <p:sp>
        <p:nvSpPr>
          <p:cNvPr id="15" name="Oval 14"/>
          <p:cNvSpPr/>
          <p:nvPr/>
        </p:nvSpPr>
        <p:spPr>
          <a:xfrm>
            <a:off x="548640" y="4251959"/>
            <a:ext cx="292608" cy="292608"/>
          </a:xfrm>
          <a:prstGeom prst="ellipse">
            <a:avLst/>
          </a:prstGeom>
          <a:solidFill>
            <a:srgbClr val="E8A33D"/>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b="1" sz="1600">
                <a:solidFill>
                  <a:srgbClr val="13233F"/>
                </a:solidFill>
                <a:latin typeface="Calibri"/>
              </a:rPr>
              <a:t/>
            </a:r>
          </a:p>
        </p:txBody>
      </p:sp>
      <p:sp>
        <p:nvSpPr>
          <p:cNvPr id="16" name="TextBox 15"/>
          <p:cNvSpPr txBox="1"/>
          <p:nvPr/>
        </p:nvSpPr>
        <p:spPr>
          <a:xfrm>
            <a:off x="1051560" y="4206240"/>
            <a:ext cx="4846320" cy="365760"/>
          </a:xfrm>
          <a:prstGeom prst="rect">
            <a:avLst/>
          </a:prstGeom>
          <a:noFill/>
        </p:spPr>
        <p:txBody>
          <a:bodyPr wrap="square" anchor="t" lIns="0" rIns="0" tIns="0" bIns="0">
            <a:spAutoFit/>
          </a:bodyPr>
          <a:lstStyle/>
          <a:p>
            <a:pPr algn="l"/>
            <a:r>
              <a:rPr sz="1800" b="1" i="0">
                <a:solidFill>
                  <a:srgbClr val="FFFFFF"/>
                </a:solidFill>
                <a:latin typeface="Calibri"/>
              </a:rPr>
              <a:t>Monitoring</a:t>
            </a:r>
          </a:p>
        </p:txBody>
      </p:sp>
      <p:sp>
        <p:nvSpPr>
          <p:cNvPr id="17" name="TextBox 16"/>
          <p:cNvSpPr txBox="1"/>
          <p:nvPr/>
        </p:nvSpPr>
        <p:spPr>
          <a:xfrm>
            <a:off x="1051560" y="4590288"/>
            <a:ext cx="4846320" cy="640080"/>
          </a:xfrm>
          <a:prstGeom prst="rect">
            <a:avLst/>
          </a:prstGeom>
          <a:noFill/>
        </p:spPr>
        <p:txBody>
          <a:bodyPr wrap="square" anchor="t" lIns="0" rIns="0" tIns="0" bIns="0">
            <a:spAutoFit/>
          </a:bodyPr>
          <a:lstStyle/>
          <a:p>
            <a:pPr algn="l"/>
            <a:r>
              <a:rPr sz="1400" b="0" i="0">
                <a:solidFill>
                  <a:srgbClr val="C9D6EA"/>
                </a:solidFill>
                <a:latin typeface="Calibri"/>
              </a:rPr>
              <a:t>CUSUM, Bayesian change points, Kalman filters, simulation-based training</a:t>
            </a:r>
          </a:p>
        </p:txBody>
      </p:sp>
      <p:sp>
        <p:nvSpPr>
          <p:cNvPr id="18" name="Oval 17"/>
          <p:cNvSpPr/>
          <p:nvPr/>
        </p:nvSpPr>
        <p:spPr>
          <a:xfrm>
            <a:off x="6126479" y="4251959"/>
            <a:ext cx="292608" cy="292608"/>
          </a:xfrm>
          <a:prstGeom prst="ellipse">
            <a:avLst/>
          </a:prstGeom>
          <a:solidFill>
            <a:srgbClr val="E8A33D"/>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b="1" sz="1600">
                <a:solidFill>
                  <a:srgbClr val="13233F"/>
                </a:solidFill>
                <a:latin typeface="Calibri"/>
              </a:rPr>
              <a:t/>
            </a:r>
          </a:p>
        </p:txBody>
      </p:sp>
      <p:sp>
        <p:nvSpPr>
          <p:cNvPr id="19" name="TextBox 18"/>
          <p:cNvSpPr txBox="1"/>
          <p:nvPr/>
        </p:nvSpPr>
        <p:spPr>
          <a:xfrm>
            <a:off x="6629399" y="4206240"/>
            <a:ext cx="4846320" cy="365760"/>
          </a:xfrm>
          <a:prstGeom prst="rect">
            <a:avLst/>
          </a:prstGeom>
          <a:noFill/>
        </p:spPr>
        <p:txBody>
          <a:bodyPr wrap="square" anchor="t" lIns="0" rIns="0" tIns="0" bIns="0">
            <a:spAutoFit/>
          </a:bodyPr>
          <a:lstStyle/>
          <a:p>
            <a:pPr algn="l"/>
            <a:r>
              <a:rPr sz="1800" b="1" i="0">
                <a:solidFill>
                  <a:srgbClr val="FFFFFF"/>
                </a:solidFill>
                <a:latin typeface="Calibri"/>
              </a:rPr>
              <a:t>Delivery</a:t>
            </a:r>
          </a:p>
        </p:txBody>
      </p:sp>
      <p:sp>
        <p:nvSpPr>
          <p:cNvPr id="20" name="TextBox 19"/>
          <p:cNvSpPr txBox="1"/>
          <p:nvPr/>
        </p:nvSpPr>
        <p:spPr>
          <a:xfrm>
            <a:off x="6629399" y="4590288"/>
            <a:ext cx="4846320" cy="640080"/>
          </a:xfrm>
          <a:prstGeom prst="rect">
            <a:avLst/>
          </a:prstGeom>
          <a:noFill/>
        </p:spPr>
        <p:txBody>
          <a:bodyPr wrap="square" anchor="t" lIns="0" rIns="0" tIns="0" bIns="0">
            <a:spAutoFit/>
          </a:bodyPr>
          <a:lstStyle/>
          <a:p>
            <a:pPr algn="l"/>
            <a:r>
              <a:rPr sz="1400" b="0" i="0">
                <a:solidFill>
                  <a:srgbClr val="C9D6EA"/>
                </a:solidFill>
                <a:latin typeface="Calibri"/>
              </a:rPr>
              <a:t>executed notebooks, Streamlit app, reproducible build, this deck</a:t>
            </a:r>
          </a:p>
        </p:txBody>
      </p:sp>
      <p:sp>
        <p:nvSpPr>
          <p:cNvPr id="21" name="TextBox 20"/>
          <p:cNvSpPr txBox="1"/>
          <p:nvPr/>
        </p:nvSpPr>
        <p:spPr>
          <a:xfrm>
            <a:off x="548640" y="5715000"/>
            <a:ext cx="10972800" cy="411480"/>
          </a:xfrm>
          <a:prstGeom prst="rect">
            <a:avLst/>
          </a:prstGeom>
          <a:noFill/>
        </p:spPr>
        <p:txBody>
          <a:bodyPr wrap="square" anchor="t" lIns="0" rIns="0" tIns="0" bIns="0">
            <a:spAutoFit/>
          </a:bodyPr>
          <a:lstStyle/>
          <a:p>
            <a:pPr algn="l"/>
            <a:r>
              <a:rPr sz="1800" b="0" i="0">
                <a:solidFill>
                  <a:srgbClr val="FFFFFF"/>
                </a:solidFill>
                <a:latin typeface="Calibri"/>
              </a:rPr>
              <a:t>Code, notebooks and app: </a:t>
            </a:r>
            <a:r>
              <a:rPr sz="1800" b="1" i="0">
                <a:solidFill>
                  <a:srgbClr val="E8A33D"/>
                </a:solidFill>
                <a:latin typeface="Calibri"/>
              </a:rPr>
              <a:t>github.com/PeterImoniose/fuel-system-digital-twin</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